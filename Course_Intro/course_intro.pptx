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81" r:id="rId2"/>
    <p:sldId id="369" r:id="rId3"/>
    <p:sldId id="370" r:id="rId4"/>
    <p:sldId id="365" r:id="rId5"/>
    <p:sldId id="366" r:id="rId6"/>
    <p:sldId id="266" r:id="rId7"/>
  </p:sldIdLst>
  <p:sldSz cx="12192000" cy="6858000"/>
  <p:notesSz cx="9144000" cy="6858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A0CB"/>
    <a:srgbClr val="15BEF0"/>
    <a:srgbClr val="4CC3F4"/>
    <a:srgbClr val="00AA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>
        <p:guide orient="horz" pos="1026"/>
        <p:guide pos="35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32" d="100"/>
          <a:sy n="132" d="100"/>
        </p:scale>
        <p:origin x="2600" y="17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59C8-08AF-4C7B-95C0-6ED96EE71E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18364" y="6513910"/>
            <a:ext cx="518615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C11C0-8907-429F-A3F4-8C35EF8784CB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AC5C426-58DE-40B2-9DBA-B20D2BE138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CF4D2BF-EA35-46ED-968D-E2560245FE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E400B-5F95-4EE3-9D17-5032615B1C24}" type="datetimeFigureOut">
              <a:rPr lang="hu-HU" smtClean="0"/>
              <a:t>2026. 02. 25.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5193766"/>
      </p:ext>
    </p:extLst>
  </p:cSld>
  <p:clrMap bg1="dk1" tx1="lt1" bg2="dk2" tx2="lt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C41BF-2966-492C-BF11-EDF0CF116384}" type="datetimeFigureOut">
              <a:rPr lang="hu-HU" smtClean="0"/>
              <a:t>2026. 02. 25.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6CAE-03F7-4637-AB83-737E9CC5D86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96812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6B41C1-69C2-459A-BC13-43DAB41CC8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0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9E6A2-C40F-4E4C-B6FB-9BC58AAD0739}"/>
              </a:ext>
            </a:extLst>
          </p:cNvPr>
          <p:cNvCxnSpPr>
            <a:cxnSpLocks/>
          </p:cNvCxnSpPr>
          <p:nvPr userDrawn="1"/>
        </p:nvCxnSpPr>
        <p:spPr>
          <a:xfrm>
            <a:off x="5146463" y="1719618"/>
            <a:ext cx="0" cy="513838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2FA7B8-6484-754F-B56D-227047F07D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0" y="1719263"/>
            <a:ext cx="5938838" cy="2073091"/>
          </a:xfrm>
        </p:spPr>
        <p:txBody>
          <a:bodyPr/>
          <a:lstStyle>
            <a:lvl1pPr marL="0" indent="0">
              <a:buNone/>
              <a:defRPr sz="2400" b="1" i="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1">
                <a:solidFill>
                  <a:srgbClr val="00AAF0"/>
                </a:solidFill>
                <a:latin typeface="+mj-lt"/>
              </a:defRPr>
            </a:lvl2pPr>
            <a:lvl3pPr>
              <a:defRPr b="1">
                <a:solidFill>
                  <a:srgbClr val="00AAF0"/>
                </a:solidFill>
                <a:latin typeface="+mj-lt"/>
              </a:defRPr>
            </a:lvl3pPr>
            <a:lvl4pPr>
              <a:defRPr b="1">
                <a:solidFill>
                  <a:srgbClr val="00AAF0"/>
                </a:solidFill>
                <a:latin typeface="+mj-lt"/>
              </a:defRPr>
            </a:lvl4pPr>
            <a:lvl5pPr>
              <a:defRPr b="1">
                <a:solidFill>
                  <a:srgbClr val="00AAF0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HERE TO INSERT YOUR TITLE. DON’T CHANGE FONT TYPE, SIZE OR COLOUR. USE ONLY CAPITAL LETTERS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4DC9044-8B3E-244C-9490-CC5DCA40F4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0" y="3933074"/>
            <a:ext cx="5938838" cy="20730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1">
                <a:solidFill>
                  <a:srgbClr val="00AAF0"/>
                </a:solidFill>
                <a:latin typeface="+mj-lt"/>
              </a:defRPr>
            </a:lvl2pPr>
            <a:lvl3pPr>
              <a:defRPr b="1">
                <a:solidFill>
                  <a:srgbClr val="00AAF0"/>
                </a:solidFill>
                <a:latin typeface="+mj-lt"/>
              </a:defRPr>
            </a:lvl3pPr>
            <a:lvl4pPr>
              <a:defRPr b="1">
                <a:solidFill>
                  <a:srgbClr val="00AAF0"/>
                </a:solidFill>
                <a:latin typeface="+mj-lt"/>
              </a:defRPr>
            </a:lvl4pPr>
            <a:lvl5pPr>
              <a:defRPr b="1">
                <a:solidFill>
                  <a:srgbClr val="00AAF0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HERE TO INSERT YOUR SUBTITLE. DON’T CHANGE FONT TYPE, SIZE OR COLOUR. USE ONLY CAPITAL LETTERS. THIS BOX CAN BE REPOSITIONED AFTER THE TITLE HAS BEEN TYPED 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66D1B-A7A6-0049-B54A-7EF500F3C5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5609" y="1621551"/>
            <a:ext cx="3864029" cy="9982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7359AA-0A80-9672-4FD6-E1A8CA828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0203" y="6303365"/>
            <a:ext cx="4072530" cy="353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72AD7D-D400-1994-7801-42815BC633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834" y="6320098"/>
            <a:ext cx="1608487" cy="33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4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WHIT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7513DF9-8A1A-4A0A-8ED4-95037BF1B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114" b="60234"/>
          <a:stretch/>
        </p:blipFill>
        <p:spPr>
          <a:xfrm>
            <a:off x="-3546" y="-19314"/>
            <a:ext cx="12195546" cy="68773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4F6F1-583A-D542-955E-38EC9E30F2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65819" y="-1"/>
            <a:ext cx="5126181" cy="592974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hu-HU" dirty="0" err="1"/>
              <a:t>Insert</a:t>
            </a:r>
            <a:r>
              <a:rPr lang="hu-HU" dirty="0"/>
              <a:t> </a:t>
            </a:r>
            <a:r>
              <a:rPr lang="hu-HU" dirty="0" err="1"/>
              <a:t>picture</a:t>
            </a:r>
            <a:r>
              <a:rPr lang="hu-HU" dirty="0"/>
              <a:t> here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clicking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icon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middle</a:t>
            </a:r>
            <a:endParaRPr lang="hu-H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98635-3212-0D46-82C5-7D0B1B2CE5BF}"/>
              </a:ext>
            </a:extLst>
          </p:cNvPr>
          <p:cNvCxnSpPr>
            <a:cxnSpLocks/>
          </p:cNvCxnSpPr>
          <p:nvPr userDrawn="1"/>
        </p:nvCxnSpPr>
        <p:spPr>
          <a:xfrm>
            <a:off x="6400800" y="2060575"/>
            <a:ext cx="0" cy="4797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28119D6-EDFC-7744-81CC-932C87A09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798DD75-DE33-0B41-B682-18DE6E9D2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9730F1-BCF9-5C43-984E-AA4632910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5694363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3058AA-CEDF-EA41-A58C-E422E63F68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179E2A5-D647-4281-B338-FF05ADEFE3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108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WHIT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3F390D-3F4B-48E5-BBE0-BE88BB742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656" t="32937" r="26232" b="33726"/>
          <a:stretch/>
        </p:blipFill>
        <p:spPr>
          <a:xfrm>
            <a:off x="-3548" y="-39095"/>
            <a:ext cx="12195548" cy="6910742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53032CB-6C47-B940-9EAF-51FBAF9EB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3C965CC-DF89-2749-B323-063B9A91C3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A724CD13-4229-DD41-BE36-29119CF32B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51321F-B004-A64D-B518-5A901CFAB3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5893AB0-550D-2940-990E-016DEE0E2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710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BLACK_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44F27A0-3814-BB41-957D-3CC3CEFCBF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114" b="60234"/>
          <a:stretch/>
        </p:blipFill>
        <p:spPr>
          <a:xfrm>
            <a:off x="-3546" y="-19314"/>
            <a:ext cx="12170608" cy="68773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4F6F1-583A-D542-955E-38EC9E30F2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65819" y="-1"/>
            <a:ext cx="5126181" cy="592974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hu-HU" dirty="0" err="1"/>
              <a:t>Insert</a:t>
            </a:r>
            <a:r>
              <a:rPr lang="hu-HU" dirty="0"/>
              <a:t> </a:t>
            </a:r>
            <a:r>
              <a:rPr lang="hu-HU" dirty="0" err="1"/>
              <a:t>picture</a:t>
            </a:r>
            <a:r>
              <a:rPr lang="hu-HU" dirty="0"/>
              <a:t> here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clicking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icon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middle</a:t>
            </a:r>
            <a:endParaRPr lang="hu-H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98635-3212-0D46-82C5-7D0B1B2CE5BF}"/>
              </a:ext>
            </a:extLst>
          </p:cNvPr>
          <p:cNvCxnSpPr>
            <a:cxnSpLocks/>
          </p:cNvCxnSpPr>
          <p:nvPr userDrawn="1"/>
        </p:nvCxnSpPr>
        <p:spPr>
          <a:xfrm>
            <a:off x="6400800" y="2060575"/>
            <a:ext cx="0" cy="4797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28119D6-EDFC-7744-81CC-932C87A09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798DD75-DE33-0B41-B682-18DE6E9D2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9730F1-BCF9-5C43-984E-AA4632910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5694363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CC5BF0-5767-6B4D-A4D1-8E2D929B615E}"/>
              </a:ext>
            </a:extLst>
          </p:cNvPr>
          <p:cNvCxnSpPr>
            <a:cxnSpLocks/>
          </p:cNvCxnSpPr>
          <p:nvPr userDrawn="1"/>
        </p:nvCxnSpPr>
        <p:spPr>
          <a:xfrm>
            <a:off x="6553200" y="2212975"/>
            <a:ext cx="0" cy="47974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A5FB134E-DAFC-9C4A-8235-429A7AFE10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6934A0E-F115-204C-BDAA-486E556B1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55181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BLACK_PLAIN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37B86DC-0B17-9742-8FFA-A916F91FBE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A3FC41C-A6CE-5549-937F-7177850104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005B727-0A95-5B4C-987D-11BA1C3D81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CA013D-F100-7A49-A54E-95650F844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E1A571E-ED8F-8040-8C25-571CEE4C5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457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_BLACK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ADBC8-8766-4DF2-8566-8F6A651B5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13647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37B86DC-0B17-9742-8FFA-A916F91FBE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A3FC41C-A6CE-5549-937F-7177850104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005B727-0A95-5B4C-987D-11BA1C3D81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4A4D71-829C-B34A-B072-26C084A594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94FDD80-13D5-6D42-BD04-530641C1F1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134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IVI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3F390D-3F4B-48E5-BBE0-BE88BB742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656" t="32937" r="26232" b="33726"/>
          <a:stretch/>
        </p:blipFill>
        <p:spPr>
          <a:xfrm>
            <a:off x="-3548" y="-49121"/>
            <a:ext cx="12195548" cy="6910742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53032CB-6C47-B940-9EAF-51FBAF9EB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518" y="399457"/>
            <a:ext cx="5973763" cy="123203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CHAPTER TITLE. DON’T CHANGE FONT TYPE, SIZE OR COLOUR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3C965CC-DF89-2749-B323-063B9A91C3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18" y="1806373"/>
            <a:ext cx="5973763" cy="1626789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FA14D5-B4D8-A649-BA67-CBA6E2F22C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A5B1E30-37C8-7F44-95F3-23710955CD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8632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ADBC8-8766-4DF2-8566-8F6A651B5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13647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B7857C3-98D4-3A45-83D8-C4698A3ED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518" y="399457"/>
            <a:ext cx="5973763" cy="123203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CHAPTER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447D6BE-81F5-0A41-AA01-F90189B3FB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18" y="1806373"/>
            <a:ext cx="5973763" cy="1626789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33F0EC-BE39-904F-AA2E-3AD5C2FA1A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4F50BAD-907D-8347-9D1B-4C6C860E4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123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4C60C7-F6FF-4D6D-AEB1-2417B1364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56" t="29181" r="24649" b="23626"/>
          <a:stretch/>
        </p:blipFill>
        <p:spPr>
          <a:xfrm>
            <a:off x="21392" y="-16042"/>
            <a:ext cx="12149216" cy="6851443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AC34891-93EE-B84E-931E-6633B1DEFC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09118" y="3585419"/>
            <a:ext cx="5973763" cy="1232035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THANK YOU FOR YOUR 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3C9EAE-38B6-A34C-B887-F1EBCB6262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65ED73C-9DFB-9648-8FA3-24E17E3E1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128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" descr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392" y="-16043"/>
            <a:ext cx="12149216" cy="6851444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1. szövegtörzsszin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109117" y="3585419"/>
            <a:ext cx="5973764" cy="1232036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  <a:lvl2pPr marL="647700" indent="-190500" algn="ctr">
              <a:defRPr sz="2000"/>
            </a:lvl2pPr>
            <a:lvl3pPr marL="1143000" indent="-228600" algn="ctr">
              <a:defRPr sz="2000"/>
            </a:lvl3pPr>
            <a:lvl4pPr marL="1625600" indent="-254000" algn="ctr">
              <a:defRPr sz="2000"/>
            </a:lvl4pPr>
            <a:lvl5pPr marL="2082800" indent="-254000" algn="ctr">
              <a:defRPr sz="2000"/>
            </a:lvl5pPr>
          </a:lstStyle>
          <a:p>
            <a:r>
              <a:t>THANK YOU FOR YOUR ATTENTION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30" name="Picture 14" descr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9995" y="6073254"/>
            <a:ext cx="4885153" cy="86105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Diasorszám"/>
          <p:cNvSpPr txBox="1">
            <a:spLocks noGrp="1"/>
          </p:cNvSpPr>
          <p:nvPr>
            <p:ph type="sldNum" sz="quarter" idx="2"/>
          </p:nvPr>
        </p:nvSpPr>
        <p:spPr>
          <a:xfrm>
            <a:off x="293398" y="6394781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79212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0D38A-D7C8-424C-AA4C-103CD470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AD8A-54F5-49E8-ADA6-F5B263208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7BC92-0569-41C7-AD28-87837B1EA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 dirty="0"/>
              <a:t>njniugzuv ouzgv7tugo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1BAE4-CE5B-40D4-8E64-FBBFD1ED2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428" y="6308222"/>
            <a:ext cx="4291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bg1"/>
                </a:solidFill>
                <a:latin typeface="+mj-lt"/>
              </a:defRPr>
            </a:lvl1pPr>
          </a:lstStyle>
          <a:p>
            <a:fld id="{20B01981-BAC9-448B-9192-9C05FAA59408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7627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90" r:id="rId3"/>
    <p:sldLayoutId id="2147483686" r:id="rId4"/>
    <p:sldLayoutId id="2147483688" r:id="rId5"/>
    <p:sldLayoutId id="2147483691" r:id="rId6"/>
    <p:sldLayoutId id="2147483687" r:id="rId7"/>
    <p:sldLayoutId id="2147483689" r:id="rId8"/>
    <p:sldLayoutId id="2147483666" r:id="rId9"/>
    <p:sldLayoutId id="214748369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hyperlink" Target="https://doi.org/10.7287/peerj.preprints.27283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l4.cdn.filezilla-project.org/client/FileZilla_3.69.6_i686-linux-gnu.tar.xz?h=nmevODwItSZ8M0MR2bqOZg&amp;x=1772029558" TargetMode="External"/><Relationship Id="rId3" Type="http://schemas.openxmlformats.org/officeDocument/2006/relationships/hyperlink" Target="https://download.filezilla-project.org/client/FileZilla_3.69.6_win64_sponsored2-setup.exe" TargetMode="External"/><Relationship Id="rId7" Type="http://schemas.openxmlformats.org/officeDocument/2006/relationships/hyperlink" Target="https://dl2.cdn.filezilla-project.org/client/FileZilla_3.69.6_x86_64-linux-gnu.tar.xz?h=M9WVKc5uPspRoovYwnemBQ&amp;x=1772029538" TargetMode="External"/><Relationship Id="rId2" Type="http://schemas.openxmlformats.org/officeDocument/2006/relationships/hyperlink" Target="https://filezilla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l1.cdn.filezilla-project.org/client/FileZilla_3.69.6_macos-x86.app.tar.bz2?h=guz5ADJ_PujeE8EyzouhlA&amp;x=1772037292" TargetMode="External"/><Relationship Id="rId5" Type="http://schemas.openxmlformats.org/officeDocument/2006/relationships/hyperlink" Target="https://dl3.cdn.filezilla-project.org/client/FileZilla_3.69.6_macos-arm64.app.tar.bz2?h=Frf-tNqnWMGGIeW1a72nnQ&amp;x=1772037346" TargetMode="External"/><Relationship Id="rId4" Type="http://schemas.openxmlformats.org/officeDocument/2006/relationships/hyperlink" Target="https://download.filezilla-project.org/client/FileZilla_3.69.6_win32_sponsored2-setup.ex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maria.kavoosi@hcemm.eu" TargetMode="External"/><Relationship Id="rId2" Type="http://schemas.openxmlformats.org/officeDocument/2006/relationships/hyperlink" Target="https://puli.hcemm.eu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joao.sequeira@hcemm.e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oao.Sequeira@hcemm.eu" TargetMode="External"/><Relationship Id="rId2" Type="http://schemas.openxmlformats.org/officeDocument/2006/relationships/hyperlink" Target="mailto:Maria.Kavoosi@hcemm.eu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mailto:Istvan.Szepesi-Nagy@hcemm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8D348D1-4A9C-837B-2EC5-C089E0924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0" y="1838185"/>
            <a:ext cx="5702060" cy="2628671"/>
          </a:xfrm>
        </p:spPr>
        <p:txBody>
          <a:bodyPr>
            <a:normAutofit/>
          </a:bodyPr>
          <a:lstStyle/>
          <a:p>
            <a:r>
              <a:rPr lang="en-US" dirty="0"/>
              <a:t>Cutting-Edge Bioinformatics in a High-Performance Computing Environment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AFFD82-476D-1120-CD4E-795F2BC8A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3691" y="4670191"/>
            <a:ext cx="5938838" cy="1381213"/>
          </a:xfrm>
        </p:spPr>
        <p:txBody>
          <a:bodyPr>
            <a:normAutofit/>
          </a:bodyPr>
          <a:lstStyle/>
          <a:p>
            <a:r>
              <a:rPr lang="en-US" dirty="0"/>
              <a:t>István Nagy-Szepesi </a:t>
            </a:r>
          </a:p>
          <a:p>
            <a:r>
              <a:rPr lang="en-US" dirty="0"/>
              <a:t>João Carlos Sequeira</a:t>
            </a:r>
          </a:p>
          <a:p>
            <a:r>
              <a:rPr lang="en-US" noProof="0" dirty="0"/>
              <a:t>Maria Kavoosi</a:t>
            </a:r>
          </a:p>
          <a:p>
            <a:r>
              <a:rPr lang="en-US" noProof="0" dirty="0"/>
              <a:t>Scientific Computing Advanced Core Facility</a:t>
            </a:r>
          </a:p>
        </p:txBody>
      </p:sp>
      <p:pic>
        <p:nvPicPr>
          <p:cNvPr id="10" name="Kép 10">
            <a:extLst>
              <a:ext uri="{FF2B5EF4-FFF2-40B4-BE49-F238E27FC236}">
                <a16:creationId xmlns:a16="http://schemas.microsoft.com/office/drawing/2014/main" id="{9C51B3C2-FABD-04DE-D6B2-3238F26E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7" y="2811100"/>
            <a:ext cx="4291696" cy="1072924"/>
          </a:xfrm>
          <a:prstGeom prst="rect">
            <a:avLst/>
          </a:prstGeom>
        </p:spPr>
      </p:pic>
      <p:pic>
        <p:nvPicPr>
          <p:cNvPr id="11" name="Kép 11">
            <a:extLst>
              <a:ext uri="{FF2B5EF4-FFF2-40B4-BE49-F238E27FC236}">
                <a16:creationId xmlns:a16="http://schemas.microsoft.com/office/drawing/2014/main" id="{AA4F0EAC-24A1-B19D-FD6D-DA4E2903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4189162"/>
            <a:ext cx="1881052" cy="1862242"/>
          </a:xfrm>
          <a:prstGeom prst="rect">
            <a:avLst/>
          </a:prstGeom>
        </p:spPr>
      </p:pic>
      <p:pic>
        <p:nvPicPr>
          <p:cNvPr id="2" name="Picture 2" descr="HPC intro | Introduction to the command line interface (Shell)">
            <a:extLst>
              <a:ext uri="{FF2B5EF4-FFF2-40B4-BE49-F238E27FC236}">
                <a16:creationId xmlns:a16="http://schemas.microsoft.com/office/drawing/2014/main" id="{56418A1D-B196-A0B2-03CC-ECAB9FF5B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431" y="2872596"/>
            <a:ext cx="3735030" cy="256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09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B232-E941-5D1F-2262-96760CCD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7934B8-DF0A-FA51-FD7F-F3B6F149A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6A103AB6-6923-2947-A91E-93D86FD5C6E8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Workshop overview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5127F3-5126-6F78-ECAE-B5A5E6A7982C}"/>
              </a:ext>
            </a:extLst>
          </p:cNvPr>
          <p:cNvSpPr txBox="1">
            <a:spLocks/>
          </p:cNvSpPr>
          <p:nvPr/>
        </p:nvSpPr>
        <p:spPr>
          <a:xfrm>
            <a:off x="668840" y="1293960"/>
            <a:ext cx="10854320" cy="45978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12A0CB"/>
              </a:buClr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day – Introduction to Linux and the Shell environment </a:t>
            </a:r>
          </a:p>
          <a:p>
            <a:pPr lvl="2">
              <a:buClr>
                <a:srgbClr val="12A0CB"/>
              </a:buClr>
            </a:pPr>
            <a:r>
              <a:rPr lang="en-US" dirty="0"/>
              <a:t>The Linux filesystem, nice command-line utilities, remote access to a Linux server</a:t>
            </a:r>
          </a:p>
          <a:p>
            <a:pPr lvl="1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day - Running bioinformatics tools for data processing and analysis</a:t>
            </a:r>
          </a:p>
          <a:p>
            <a:pPr lvl="2">
              <a:buClr>
                <a:srgbClr val="12A0CB"/>
              </a:buClr>
            </a:pPr>
            <a:r>
              <a:rPr lang="en-US" dirty="0"/>
              <a:t>Step by step, from raw sequencing data to differential analysis of gene expression between two health conditions</a:t>
            </a:r>
          </a:p>
          <a:p>
            <a:pPr lvl="2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day – Using a workload manager to handle large-scale datasets </a:t>
            </a:r>
          </a:p>
          <a:p>
            <a:pPr lvl="2">
              <a:buClr>
                <a:srgbClr val="12A0CB"/>
              </a:buClr>
            </a:pPr>
            <a:r>
              <a:rPr lang="en-US" dirty="0"/>
              <a:t>How to submit data analyses to </a:t>
            </a:r>
            <a:r>
              <a:rPr lang="en-US" dirty="0" err="1"/>
              <a:t>Slurm</a:t>
            </a:r>
            <a:endParaRPr lang="en-US" dirty="0"/>
          </a:p>
          <a:p>
            <a:pPr lvl="2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day – Results interpretation, Q &amp; A, What comes next</a:t>
            </a:r>
          </a:p>
          <a:p>
            <a:pPr lvl="2">
              <a:buClr>
                <a:srgbClr val="12A0CB"/>
              </a:buClr>
            </a:pPr>
            <a:r>
              <a:rPr lang="en-US" dirty="0"/>
              <a:t>Convert experimental results into translational results</a:t>
            </a:r>
          </a:p>
          <a:p>
            <a:pPr lvl="1">
              <a:buClr>
                <a:srgbClr val="12A0CB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83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6F212-EA76-2803-D79C-BB33C823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Overview of the experimental steps in a RNAseq protocol. The cDNA... |  Download Scientific Diagram">
            <a:extLst>
              <a:ext uri="{FF2B5EF4-FFF2-40B4-BE49-F238E27FC236}">
                <a16:creationId xmlns:a16="http://schemas.microsoft.com/office/drawing/2014/main" id="{5E5F8A15-67C6-F039-B61F-F742A346B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34" y="2032590"/>
            <a:ext cx="6188912" cy="297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1E6011A-81FD-1816-3720-E15FAD99191C}"/>
              </a:ext>
            </a:extLst>
          </p:cNvPr>
          <p:cNvSpPr/>
          <p:nvPr/>
        </p:nvSpPr>
        <p:spPr>
          <a:xfrm>
            <a:off x="487933" y="3487257"/>
            <a:ext cx="3678625" cy="1516011"/>
          </a:xfrm>
          <a:prstGeom prst="rect">
            <a:avLst/>
          </a:prstGeom>
          <a:noFill/>
          <a:ln w="38100">
            <a:solidFill>
              <a:srgbClr val="12A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7819D0-9343-0A17-B37E-626A9E79F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494" y="3959525"/>
            <a:ext cx="2387314" cy="2387314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68E186F-AD8E-1FB6-9DF9-5BF7081A84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8E70AF4E-60D7-5FE1-D023-5311AD867F38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Quick overview of the bioinformatics pipeline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6911074-00EC-119E-7AEE-84435E4BE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DAE75-CFA9-0ED7-7471-6F25DBB88AC4}"/>
              </a:ext>
            </a:extLst>
          </p:cNvPr>
          <p:cNvSpPr txBox="1"/>
          <p:nvPr/>
        </p:nvSpPr>
        <p:spPr>
          <a:xfrm>
            <a:off x="7693324" y="6458541"/>
            <a:ext cx="449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Image from: </a:t>
            </a:r>
            <a:r>
              <a:rPr lang="en-GB" sz="1400" dirty="0">
                <a:hlinkClick r:id="rId4"/>
              </a:rPr>
              <a:t>https://doi.org/10.7287/peerj.preprints.27283</a:t>
            </a:r>
            <a:endParaRPr lang="en-GB" sz="1400" dirty="0"/>
          </a:p>
        </p:txBody>
      </p:sp>
      <p:sp>
        <p:nvSpPr>
          <p:cNvPr id="6" name="Arrow: Bent 5">
            <a:extLst>
              <a:ext uri="{FF2B5EF4-FFF2-40B4-BE49-F238E27FC236}">
                <a16:creationId xmlns:a16="http://schemas.microsoft.com/office/drawing/2014/main" id="{DE2ECA67-92E0-B01A-8921-97034A47E883}"/>
              </a:ext>
            </a:extLst>
          </p:cNvPr>
          <p:cNvSpPr/>
          <p:nvPr/>
        </p:nvSpPr>
        <p:spPr>
          <a:xfrm flipV="1">
            <a:off x="1000663" y="4477108"/>
            <a:ext cx="6909759" cy="1500995"/>
          </a:xfrm>
          <a:prstGeom prst="bentArrow">
            <a:avLst>
              <a:gd name="adj1" fmla="val 6476"/>
              <a:gd name="adj2" fmla="val 1080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AD23E02-938C-81ED-D470-A0F5B6ED4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CD40D3-FFFC-C0F8-5407-5F70EDE67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772" y="1859608"/>
            <a:ext cx="2271433" cy="22714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D4901F-6FFA-7846-65D4-09CAC678D893}"/>
              </a:ext>
            </a:extLst>
          </p:cNvPr>
          <p:cNvSpPr txBox="1"/>
          <p:nvPr/>
        </p:nvSpPr>
        <p:spPr>
          <a:xfrm>
            <a:off x="1226941" y="5002970"/>
            <a:ext cx="285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Bioinformatics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4EC7-6D0F-5034-782B-9EC6D9720E8A}"/>
              </a:ext>
            </a:extLst>
          </p:cNvPr>
          <p:cNvSpPr txBox="1">
            <a:spLocks/>
          </p:cNvSpPr>
          <p:nvPr/>
        </p:nvSpPr>
        <p:spPr>
          <a:xfrm>
            <a:off x="227120" y="1096170"/>
            <a:ext cx="8456843" cy="603582"/>
          </a:xfrm>
          <a:prstGeom prst="rect">
            <a:avLst/>
          </a:prstGeom>
          <a:solidFill>
            <a:schemeClr val="bg1"/>
          </a:solidFill>
          <a:ln w="28575">
            <a:solidFill>
              <a:srgbClr val="12A0CB"/>
            </a:solidFill>
          </a:ln>
        </p:spPr>
        <p:txBody>
          <a:bodyPr wrap="square" lIns="0" r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12A0CB"/>
              </a:buClr>
              <a:buNone/>
            </a:pPr>
            <a:r>
              <a:rPr lang="en-US" sz="1800" dirty="0"/>
              <a:t>We will be running, step by step, a pipeline for estimating gene expression, and statistically identify differential expression of genes between two medical conditions.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0056-4255-F1B8-4C1D-2E92F0B4F6B0}"/>
              </a:ext>
            </a:extLst>
          </p:cNvPr>
          <p:cNvSpPr txBox="1"/>
          <p:nvPr/>
        </p:nvSpPr>
        <p:spPr>
          <a:xfrm>
            <a:off x="10149808" y="4402805"/>
            <a:ext cx="186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Bioinformatics results, and their translational into medicine</a:t>
            </a:r>
          </a:p>
        </p:txBody>
      </p:sp>
    </p:spTree>
    <p:extLst>
      <p:ext uri="{BB962C8B-B14F-4D97-AF65-F5344CB8AC3E}">
        <p14:creationId xmlns:p14="http://schemas.microsoft.com/office/powerpoint/2010/main" val="324669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  <p:bldP spid="18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2686-4BA7-2945-8E68-62FF0E09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CC7EBE-D17F-7582-ABC3-5828E7EF85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1F6FC838-00D4-7FD6-6D3C-168C9DA2BB74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Before the workshop – FileZilla installation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FA5E4A-425C-DEB3-92A3-4747F3C62016}"/>
              </a:ext>
            </a:extLst>
          </p:cNvPr>
          <p:cNvSpPr txBox="1">
            <a:spLocks/>
          </p:cNvSpPr>
          <p:nvPr/>
        </p:nvSpPr>
        <p:spPr>
          <a:xfrm>
            <a:off x="668840" y="1293961"/>
            <a:ext cx="10854320" cy="48739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12A0CB"/>
              </a:buClr>
            </a:pPr>
            <a:r>
              <a:rPr lang="en-US" sz="2000" dirty="0"/>
              <a:t>Go to: </a:t>
            </a:r>
            <a:r>
              <a:rPr lang="en-US" sz="2000" dirty="0">
                <a:hlinkClick r:id="rId2"/>
              </a:rPr>
              <a:t>https://filezilla-project.org/</a:t>
            </a:r>
            <a:endParaRPr lang="en-US" sz="2000" dirty="0"/>
          </a:p>
          <a:p>
            <a:pPr lvl="1">
              <a:buClr>
                <a:srgbClr val="12A0CB"/>
              </a:buClr>
            </a:pPr>
            <a:endParaRPr lang="en-US" sz="2000" dirty="0"/>
          </a:p>
          <a:p>
            <a:pPr lvl="1">
              <a:buClr>
                <a:srgbClr val="12A0CB"/>
              </a:buClr>
            </a:pPr>
            <a:r>
              <a:rPr lang="en-US" sz="2000" dirty="0"/>
              <a:t>Select your OS -&gt; “Download FileZilla Client”.</a:t>
            </a:r>
          </a:p>
          <a:p>
            <a:pPr lvl="1">
              <a:buClr>
                <a:srgbClr val="12A0CB"/>
              </a:buClr>
            </a:pPr>
            <a:endParaRPr lang="en-US" sz="2000" dirty="0"/>
          </a:p>
          <a:p>
            <a:pPr lvl="1">
              <a:buClr>
                <a:srgbClr val="12A0CB"/>
              </a:buClr>
            </a:pPr>
            <a:r>
              <a:rPr lang="en-US" sz="2000" dirty="0"/>
              <a:t>Or just chose from the list here:</a:t>
            </a:r>
          </a:p>
          <a:p>
            <a:pPr lvl="2">
              <a:buClr>
                <a:srgbClr val="12A0CB"/>
              </a:buClr>
            </a:pPr>
            <a:r>
              <a:rPr lang="en-US" sz="1800" dirty="0">
                <a:hlinkClick r:id="rId3"/>
              </a:rPr>
              <a:t>Windows 64 bits (most of current Windows)</a:t>
            </a:r>
            <a:endParaRPr lang="en-US" sz="1800" dirty="0"/>
          </a:p>
          <a:p>
            <a:pPr lvl="2">
              <a:buClr>
                <a:srgbClr val="12A0CB"/>
              </a:buClr>
            </a:pPr>
            <a:r>
              <a:rPr lang="en-US" sz="1800" dirty="0">
                <a:hlinkClick r:id="rId4"/>
              </a:rPr>
              <a:t>Windows 32 bits</a:t>
            </a:r>
            <a:endParaRPr lang="en-US" sz="1800" dirty="0"/>
          </a:p>
          <a:p>
            <a:pPr lvl="2">
              <a:buClr>
                <a:srgbClr val="12A0CB"/>
              </a:buClr>
            </a:pPr>
            <a:r>
              <a:rPr lang="en-US" sz="1800" dirty="0">
                <a:hlinkClick r:id="rId5"/>
              </a:rPr>
              <a:t>MacOS ARM64 (more modern Macs)</a:t>
            </a:r>
            <a:endParaRPr lang="en-US" sz="1800" dirty="0"/>
          </a:p>
          <a:p>
            <a:pPr lvl="2">
              <a:buClr>
                <a:srgbClr val="12A0CB"/>
              </a:buClr>
            </a:pPr>
            <a:r>
              <a:rPr lang="en-US" sz="1800" dirty="0" err="1">
                <a:hlinkClick r:id="rId6"/>
              </a:rPr>
              <a:t>MacOSX</a:t>
            </a:r>
            <a:endParaRPr lang="en-US" sz="1800" dirty="0"/>
          </a:p>
          <a:p>
            <a:pPr lvl="2">
              <a:buClr>
                <a:srgbClr val="12A0CB"/>
              </a:buClr>
            </a:pPr>
            <a:r>
              <a:rPr lang="en-US" sz="1800" dirty="0">
                <a:hlinkClick r:id="rId7"/>
              </a:rPr>
              <a:t>Linux 64 bits (most </a:t>
            </a:r>
            <a:r>
              <a:rPr lang="en-US" sz="1800" dirty="0" err="1">
                <a:hlinkClick r:id="rId7"/>
              </a:rPr>
              <a:t>Linuxes</a:t>
            </a:r>
            <a:r>
              <a:rPr lang="en-US" sz="1800" dirty="0">
                <a:hlinkClick r:id="rId7"/>
              </a:rPr>
              <a:t>)</a:t>
            </a:r>
            <a:endParaRPr lang="en-US" sz="1800" dirty="0"/>
          </a:p>
          <a:p>
            <a:pPr lvl="2">
              <a:buClr>
                <a:srgbClr val="12A0CB"/>
              </a:buClr>
            </a:pPr>
            <a:r>
              <a:rPr lang="en-US" sz="1800" dirty="0">
                <a:hlinkClick r:id="rId8"/>
              </a:rPr>
              <a:t>Linux 32 bits</a:t>
            </a:r>
            <a:endParaRPr lang="en-US" sz="1800" dirty="0"/>
          </a:p>
          <a:p>
            <a:pPr lvl="1">
              <a:buClr>
                <a:srgbClr val="12A0CB"/>
              </a:buClr>
            </a:pPr>
            <a:endParaRPr lang="en-US" sz="2000" dirty="0"/>
          </a:p>
          <a:p>
            <a:pPr lvl="1">
              <a:buClr>
                <a:srgbClr val="12A0CB"/>
              </a:buClr>
            </a:pPr>
            <a:r>
              <a:rPr lang="en-US" sz="2000" dirty="0"/>
              <a:t>And follow the instructions of the installer</a:t>
            </a:r>
          </a:p>
        </p:txBody>
      </p:sp>
    </p:spTree>
    <p:extLst>
      <p:ext uri="{BB962C8B-B14F-4D97-AF65-F5344CB8AC3E}">
        <p14:creationId xmlns:p14="http://schemas.microsoft.com/office/powerpoint/2010/main" val="253520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5DAE-8A22-C5C8-E65D-EE03D0C1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626CFFF-8098-0DC5-2854-6E28823A8C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B9B6D5D9-61C6-1720-3EE6-DBCF9B31A72F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Before the workshop – testing access to Puli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E15314-1A4A-DC12-D1FF-EB413833A326}"/>
              </a:ext>
            </a:extLst>
          </p:cNvPr>
          <p:cNvSpPr txBox="1">
            <a:spLocks/>
          </p:cNvSpPr>
          <p:nvPr/>
        </p:nvSpPr>
        <p:spPr>
          <a:xfrm>
            <a:off x="668840" y="1293961"/>
            <a:ext cx="10854320" cy="48739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12A0CB"/>
              </a:buClr>
            </a:pPr>
            <a:r>
              <a:rPr lang="en-US" dirty="0"/>
              <a:t>Go to: </a:t>
            </a:r>
            <a:r>
              <a:rPr lang="en-US" dirty="0">
                <a:hlinkClick r:id="rId2"/>
              </a:rPr>
              <a:t>https://puli.hcemm.eu/</a:t>
            </a:r>
            <a:endParaRPr lang="en-US" dirty="0"/>
          </a:p>
          <a:p>
            <a:pPr lvl="1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Input the credentials provided by email.</a:t>
            </a:r>
          </a:p>
          <a:p>
            <a:pPr lvl="1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If they work, you are all set!</a:t>
            </a:r>
          </a:p>
          <a:p>
            <a:pPr lvl="1">
              <a:buClr>
                <a:srgbClr val="12A0CB"/>
              </a:buClr>
            </a:pPr>
            <a:endParaRPr lang="en-US" dirty="0"/>
          </a:p>
          <a:p>
            <a:pPr lvl="1">
              <a:buClr>
                <a:srgbClr val="12A0CB"/>
              </a:buClr>
            </a:pPr>
            <a:r>
              <a:rPr lang="en-US" dirty="0"/>
              <a:t>Otherwise, please email us: </a:t>
            </a:r>
          </a:p>
          <a:p>
            <a:pPr lvl="2">
              <a:buClr>
                <a:srgbClr val="12A0CB"/>
              </a:buClr>
            </a:pPr>
            <a:r>
              <a:rPr lang="en-US" dirty="0">
                <a:hlinkClick r:id="rId3"/>
              </a:rPr>
              <a:t>maria.kavoosi@hcemm.eu</a:t>
            </a:r>
            <a:endParaRPr lang="en-US" dirty="0"/>
          </a:p>
          <a:p>
            <a:pPr lvl="2">
              <a:buClr>
                <a:srgbClr val="12A0CB"/>
              </a:buClr>
            </a:pPr>
            <a:r>
              <a:rPr lang="en-US" dirty="0">
                <a:hlinkClick r:id="rId4"/>
              </a:rPr>
              <a:t>joao.sequeira@hcemm.eu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7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3">
            <a:extLst>
              <a:ext uri="{FF2B5EF4-FFF2-40B4-BE49-F238E27FC236}">
                <a16:creationId xmlns:a16="http://schemas.microsoft.com/office/drawing/2014/main" id="{AAF88E92-C673-4C8D-A504-5C01A074BE15}"/>
              </a:ext>
            </a:extLst>
          </p:cNvPr>
          <p:cNvSpPr txBox="1">
            <a:spLocks/>
          </p:cNvSpPr>
          <p:nvPr/>
        </p:nvSpPr>
        <p:spPr>
          <a:xfrm>
            <a:off x="209179" y="6394340"/>
            <a:ext cx="429126" cy="365125"/>
          </a:xfrm>
          <a:prstGeom prst="rect">
            <a:avLst/>
          </a:prstGeom>
        </p:spPr>
        <p:txBody>
          <a:bodyPr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B01981-BAC9-448B-9192-9C05FAA59408}" type="slidenum">
              <a:rPr lang="en-US" sz="1200" b="1" noProof="0" smtClean="0">
                <a:solidFill>
                  <a:schemeClr val="bg1"/>
                </a:solidFill>
                <a:latin typeface="+mj-lt"/>
              </a:rPr>
              <a:pPr/>
              <a:t>6</a:t>
            </a:fld>
            <a:endParaRPr lang="en-US" sz="1200" b="1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446DA4-BC32-08EA-5ADC-C65D845DA317}"/>
              </a:ext>
            </a:extLst>
          </p:cNvPr>
          <p:cNvSpPr txBox="1">
            <a:spLocks/>
          </p:cNvSpPr>
          <p:nvPr/>
        </p:nvSpPr>
        <p:spPr>
          <a:xfrm>
            <a:off x="3109118" y="3585419"/>
            <a:ext cx="5973763" cy="2711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See you at the workshop!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2000" b="1" dirty="0">
              <a:solidFill>
                <a:srgbClr val="00AA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And for any questions, don’t hesitate contacting:</a:t>
            </a:r>
          </a:p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Maria.Kavoosi@hcemm.eu</a:t>
            </a:r>
            <a:endParaRPr lang="en-US" sz="1800" b="1" dirty="0">
              <a:solidFill>
                <a:srgbClr val="00AA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dirty="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Joao.Sequeira@hcemm.eu</a:t>
            </a:r>
            <a:endParaRPr lang="en-US" sz="1800" b="1" dirty="0">
              <a:solidFill>
                <a:srgbClr val="00AA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 algn="ctr">
              <a:buNone/>
              <a:defRPr/>
            </a:pPr>
            <a:r>
              <a:rPr lang="en-US" sz="1800" b="1" dirty="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Istvan.Szepesi-Nagy@hcemm.eu</a:t>
            </a:r>
            <a:endParaRPr lang="en-US" sz="1800" b="1" dirty="0">
              <a:solidFill>
                <a:srgbClr val="00AAF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yriad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777394DB-89E5-5947-A806-3D77D4ACE7EC}" vid="{2E4A4D21-71AC-AA4E-9AF2-ACDB3D6CD4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1768</TotalTime>
  <Words>337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Myriad Pro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João Sequeira</cp:lastModifiedBy>
  <cp:revision>222</cp:revision>
  <dcterms:created xsi:type="dcterms:W3CDTF">2021-03-07T20:33:45Z</dcterms:created>
  <dcterms:modified xsi:type="dcterms:W3CDTF">2026-02-25T16:27:39Z</dcterms:modified>
</cp:coreProperties>
</file>