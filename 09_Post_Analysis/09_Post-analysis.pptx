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81" r:id="rId2"/>
    <p:sldId id="297" r:id="rId3"/>
    <p:sldId id="299" r:id="rId4"/>
    <p:sldId id="298" r:id="rId5"/>
    <p:sldId id="266" r:id="rId6"/>
  </p:sldIdLst>
  <p:sldSz cx="12192000" cy="6858000"/>
  <p:notesSz cx="9144000" cy="6858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F0"/>
    <a:srgbClr val="15BEF0"/>
    <a:srgbClr val="12A0CB"/>
    <a:srgbClr val="4CC3F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0" y="176"/>
      </p:cViewPr>
      <p:guideLst>
        <p:guide orient="horz" pos="1026"/>
        <p:guide pos="354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32" d="100"/>
          <a:sy n="132" d="100"/>
        </p:scale>
        <p:origin x="2600" y="17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59C8-08AF-4C7B-95C0-6ED96EE71E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18364" y="6513910"/>
            <a:ext cx="518615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C11C0-8907-429F-A3F4-8C35EF8784CB}" type="slidenum">
              <a:rPr lang="hu-HU" smtClean="0"/>
              <a:t>‹nº›</a:t>
            </a:fld>
            <a:endParaRPr lang="hu-HU" dirty="0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5AC5C426-58DE-40B2-9DBA-B20D2BE138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CF4D2BF-EA35-46ED-968D-E2560245FE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E400B-5F95-4EE3-9D17-5032615B1C24}" type="datetimeFigureOut">
              <a:rPr lang="hu-HU" smtClean="0"/>
              <a:t>2026. 02. 27.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5193766"/>
      </p:ext>
    </p:extLst>
  </p:cSld>
  <p:clrMap bg1="dk1" tx1="lt1" bg2="dk2" tx2="lt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C41BF-2966-492C-BF11-EDF0CF116384}" type="datetimeFigureOut">
              <a:rPr lang="hu-HU" smtClean="0"/>
              <a:t>2026. 02. 27.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86CAE-03F7-4637-AB83-737E9CC5D862}" type="slidenum">
              <a:rPr lang="hu-HU" smtClean="0"/>
              <a:t>‹nº›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96812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6B41C1-69C2-459A-BC13-43DAB41CC8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227" t="33815" r="27274" b="33331"/>
          <a:stretch/>
        </p:blipFill>
        <p:spPr>
          <a:xfrm>
            <a:off x="-17195" y="0"/>
            <a:ext cx="12209195" cy="685800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59E6A2-C40F-4E4C-B6FB-9BC58AAD0739}"/>
              </a:ext>
            </a:extLst>
          </p:cNvPr>
          <p:cNvCxnSpPr>
            <a:cxnSpLocks/>
          </p:cNvCxnSpPr>
          <p:nvPr userDrawn="1"/>
        </p:nvCxnSpPr>
        <p:spPr>
          <a:xfrm>
            <a:off x="5146463" y="1719618"/>
            <a:ext cx="0" cy="513838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2FA7B8-6484-754F-B56D-227047F07D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6400" y="1719263"/>
            <a:ext cx="5938838" cy="2073091"/>
          </a:xfrm>
        </p:spPr>
        <p:txBody>
          <a:bodyPr/>
          <a:lstStyle>
            <a:lvl1pPr marL="0" indent="0">
              <a:buNone/>
              <a:defRPr sz="2400" b="1" i="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1">
                <a:solidFill>
                  <a:srgbClr val="00AAF0"/>
                </a:solidFill>
                <a:latin typeface="+mj-lt"/>
              </a:defRPr>
            </a:lvl2pPr>
            <a:lvl3pPr>
              <a:defRPr b="1">
                <a:solidFill>
                  <a:srgbClr val="00AAF0"/>
                </a:solidFill>
                <a:latin typeface="+mj-lt"/>
              </a:defRPr>
            </a:lvl3pPr>
            <a:lvl4pPr>
              <a:defRPr b="1">
                <a:solidFill>
                  <a:srgbClr val="00AAF0"/>
                </a:solidFill>
                <a:latin typeface="+mj-lt"/>
              </a:defRPr>
            </a:lvl4pPr>
            <a:lvl5pPr>
              <a:defRPr b="1">
                <a:solidFill>
                  <a:srgbClr val="00AAF0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HERE TO INSERT YOUR TITLE. DON’T CHANGE FONT TYPE, SIZE OR COLOUR. USE ONLY CAPITAL LETTERS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4DC9044-8B3E-244C-9490-CC5DCA40F4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0" y="3933074"/>
            <a:ext cx="5938838" cy="2073091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1">
                <a:solidFill>
                  <a:srgbClr val="00AAF0"/>
                </a:solidFill>
                <a:latin typeface="+mj-lt"/>
              </a:defRPr>
            </a:lvl2pPr>
            <a:lvl3pPr>
              <a:defRPr b="1">
                <a:solidFill>
                  <a:srgbClr val="00AAF0"/>
                </a:solidFill>
                <a:latin typeface="+mj-lt"/>
              </a:defRPr>
            </a:lvl3pPr>
            <a:lvl4pPr>
              <a:defRPr b="1">
                <a:solidFill>
                  <a:srgbClr val="00AAF0"/>
                </a:solidFill>
                <a:latin typeface="+mj-lt"/>
              </a:defRPr>
            </a:lvl4pPr>
            <a:lvl5pPr>
              <a:defRPr b="1">
                <a:solidFill>
                  <a:srgbClr val="00AAF0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HERE TO INSERT YOUR SUBTITLE. DON’T CHANGE FONT TYPE, SIZE OR COLOUR. USE ONLY CAPITAL LETTERS. THIS BOX CAN BE REPOSITIONED AFTER THE TITLE HAS BEEN TYPED 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566D1B-A7A6-0049-B54A-7EF500F3C5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5609" y="1621551"/>
            <a:ext cx="3864029" cy="9982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7359AA-0A80-9672-4FD6-E1A8CA8287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0203" y="6303365"/>
            <a:ext cx="4072530" cy="3533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72AD7D-D400-1994-7801-42815BC6330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5834" y="6320098"/>
            <a:ext cx="1608487" cy="33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4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NTENT_WHIT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7513DF9-8A1A-4A0A-8ED4-95037BF1B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114" b="60234"/>
          <a:stretch/>
        </p:blipFill>
        <p:spPr>
          <a:xfrm>
            <a:off x="-3546" y="-19314"/>
            <a:ext cx="12195546" cy="687731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4F6F1-583A-D542-955E-38EC9E30F2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65819" y="-1"/>
            <a:ext cx="5126181" cy="592974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hu-HU" dirty="0" err="1"/>
              <a:t>Insert</a:t>
            </a:r>
            <a:r>
              <a:rPr lang="hu-HU" dirty="0"/>
              <a:t> </a:t>
            </a:r>
            <a:r>
              <a:rPr lang="hu-HU" dirty="0" err="1"/>
              <a:t>picture</a:t>
            </a:r>
            <a:r>
              <a:rPr lang="hu-HU" dirty="0"/>
              <a:t> here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clicking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icon</a:t>
            </a:r>
            <a:r>
              <a:rPr lang="hu-HU" dirty="0"/>
              <a:t> in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middle</a:t>
            </a:r>
            <a:endParaRPr lang="hu-H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98635-3212-0D46-82C5-7D0B1B2CE5BF}"/>
              </a:ext>
            </a:extLst>
          </p:cNvPr>
          <p:cNvCxnSpPr>
            <a:cxnSpLocks/>
          </p:cNvCxnSpPr>
          <p:nvPr userDrawn="1"/>
        </p:nvCxnSpPr>
        <p:spPr>
          <a:xfrm>
            <a:off x="6400800" y="2060575"/>
            <a:ext cx="0" cy="4797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28119D6-EDFC-7744-81CC-932C87A09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798DD75-DE33-0B41-B682-18DE6E9D2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19730F1-BCF9-5C43-984E-AA4632910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5694363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3058AA-CEDF-EA41-A58C-E422E63F68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179E2A5-D647-4281-B338-FF05ADEFE3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2108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_WHIT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3F390D-3F4B-48E5-BBE0-BE88BB7427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656" t="32937" r="26232" b="33726"/>
          <a:stretch/>
        </p:blipFill>
        <p:spPr>
          <a:xfrm>
            <a:off x="-3548" y="-39095"/>
            <a:ext cx="12195548" cy="6910742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53032CB-6C47-B940-9EAF-51FBAF9EB6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3C965CC-DF89-2749-B323-063B9A91C3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A724CD13-4229-DD41-BE36-29119CF32B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10964712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151321F-B004-A64D-B518-5A901CFAB3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5893AB0-550D-2940-990E-016DEE0E29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8710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NTENT_BLACK_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44F27A0-3814-BB41-957D-3CC3CEFCBF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4114" b="60234"/>
          <a:stretch/>
        </p:blipFill>
        <p:spPr>
          <a:xfrm>
            <a:off x="-3546" y="-19314"/>
            <a:ext cx="12170608" cy="687731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4F6F1-583A-D542-955E-38EC9E30F2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65819" y="-1"/>
            <a:ext cx="5126181" cy="592974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hu-HU" dirty="0" err="1"/>
              <a:t>Insert</a:t>
            </a:r>
            <a:r>
              <a:rPr lang="hu-HU" dirty="0"/>
              <a:t> </a:t>
            </a:r>
            <a:r>
              <a:rPr lang="hu-HU" dirty="0" err="1"/>
              <a:t>picture</a:t>
            </a:r>
            <a:r>
              <a:rPr lang="hu-HU" dirty="0"/>
              <a:t> here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clicking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icon</a:t>
            </a:r>
            <a:r>
              <a:rPr lang="hu-HU" dirty="0"/>
              <a:t> in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middle</a:t>
            </a:r>
            <a:endParaRPr lang="hu-H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98635-3212-0D46-82C5-7D0B1B2CE5BF}"/>
              </a:ext>
            </a:extLst>
          </p:cNvPr>
          <p:cNvCxnSpPr>
            <a:cxnSpLocks/>
          </p:cNvCxnSpPr>
          <p:nvPr userDrawn="1"/>
        </p:nvCxnSpPr>
        <p:spPr>
          <a:xfrm>
            <a:off x="6400800" y="2060575"/>
            <a:ext cx="0" cy="4797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28119D6-EDFC-7744-81CC-932C87A09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798DD75-DE33-0B41-B682-18DE6E9D2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19730F1-BCF9-5C43-984E-AA46329106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5694363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CC5BF0-5767-6B4D-A4D1-8E2D929B615E}"/>
              </a:ext>
            </a:extLst>
          </p:cNvPr>
          <p:cNvCxnSpPr>
            <a:cxnSpLocks/>
          </p:cNvCxnSpPr>
          <p:nvPr userDrawn="1"/>
        </p:nvCxnSpPr>
        <p:spPr>
          <a:xfrm>
            <a:off x="6553200" y="2212975"/>
            <a:ext cx="0" cy="47974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A5FB134E-DAFC-9C4A-8235-429A7AFE10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6934A0E-F115-204C-BDAA-486E556B1C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55181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NTENT_BLACK_PLAIN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37B86DC-0B17-9742-8FFA-A916F91FBE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9A3FC41C-A6CE-5549-937F-7177850104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005B727-0A95-5B4C-987D-11BA1C3D81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10964712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3CA013D-F100-7A49-A54E-95650F844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4E1A571E-ED8F-8040-8C25-571CEE4C56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1457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_BLACK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4ADBC8-8766-4DF2-8566-8F6A651B5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227" t="33815" r="27274" b="33331"/>
          <a:stretch/>
        </p:blipFill>
        <p:spPr>
          <a:xfrm>
            <a:off x="-17195" y="13647"/>
            <a:ext cx="12209195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37B86DC-0B17-9742-8FFA-A916F91FBE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7037" y="401864"/>
            <a:ext cx="5973763" cy="73045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SLIDE TITLE. DON’T CHANGE FONT TYPE, SIZE OR COLOUR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9A3FC41C-A6CE-5549-937F-7177850104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037" y="1133088"/>
            <a:ext cx="5668961" cy="64758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005B727-0A95-5B4C-987D-11BA1C3D81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037" y="2061344"/>
            <a:ext cx="10964712" cy="3868400"/>
          </a:xfrm>
        </p:spPr>
        <p:txBody>
          <a:bodyPr>
            <a:normAutofit/>
          </a:bodyPr>
          <a:lstStyle>
            <a:lvl1pPr marL="0" indent="0">
              <a:buClr>
                <a:srgbClr val="00AAF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114550" indent="-285750">
              <a:buClr>
                <a:srgbClr val="00AAF0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here to insert your text.</a:t>
            </a:r>
            <a:endParaRPr lang="hu-H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4A4D71-829C-B34A-B072-26C084A594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94FDD80-13D5-6D42-BD04-530641C1F1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7134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IVI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3F390D-3F4B-48E5-BBE0-BE88BB7427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656" t="32937" r="26232" b="33726"/>
          <a:stretch/>
        </p:blipFill>
        <p:spPr>
          <a:xfrm>
            <a:off x="-3548" y="-49121"/>
            <a:ext cx="12195548" cy="6910742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53032CB-6C47-B940-9EAF-51FBAF9EB6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518" y="399457"/>
            <a:ext cx="5973763" cy="1232035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CHAPTER TITLE. DON’T CHANGE FONT TYPE, SIZE OR COLOUR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3C965CC-DF89-2749-B323-063B9A91C3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18" y="1806373"/>
            <a:ext cx="5973763" cy="1626789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FA14D5-B4D8-A649-BA67-CBA6E2F22C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A5B1E30-37C8-7F44-95F3-23710955CD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86325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4ADBC8-8766-4DF2-8566-8F6A651B5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6227" t="33815" r="27274" b="33331"/>
          <a:stretch/>
        </p:blipFill>
        <p:spPr>
          <a:xfrm>
            <a:off x="-17195" y="13647"/>
            <a:ext cx="12209195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B7857C3-98D4-3A45-83D8-C4698A3EDC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518" y="399457"/>
            <a:ext cx="5973763" cy="1232035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CHAPTER TITLE. DON’T CHANGE FONT TYPE, SIZE OR COLOUR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447D6BE-81F5-0A41-AA01-F90189B3FB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18" y="1806373"/>
            <a:ext cx="5973763" cy="1626789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CLICK HERE TO INSERT SUBTITLE. DON’T CHANGE FONT STYPE, SIZE OR COLOUR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33F0EC-BE39-904F-AA2E-3AD5C2FA1A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4F50BAD-907D-8347-9D1B-4C6C860E4D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2123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C4C60C7-F6FF-4D6D-AEB1-2417B1364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256" t="29181" r="24649" b="23626"/>
          <a:stretch/>
        </p:blipFill>
        <p:spPr>
          <a:xfrm>
            <a:off x="21392" y="-16042"/>
            <a:ext cx="12149216" cy="6851443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AC34891-93EE-B84E-931E-6633B1DEFC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09118" y="3585419"/>
            <a:ext cx="5973763" cy="1232035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0AAF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hu-HU" dirty="0"/>
              <a:t>THANK YOU FOR YOUR ATTENTION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3C9EAE-38B6-A34C-B887-F1EBCB6262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9994" y="6073254"/>
            <a:ext cx="4885151" cy="861052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65ED73C-9DFB-9648-8FA3-24E17E3E1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7928" y="6346839"/>
            <a:ext cx="429126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3128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" descr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392" y="-16043"/>
            <a:ext cx="12149216" cy="6851444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1. szövegtörzsszint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109117" y="3585419"/>
            <a:ext cx="5973764" cy="1232036"/>
          </a:xfrm>
          <a:prstGeom prst="rect">
            <a:avLst/>
          </a:prstGeom>
        </p:spPr>
        <p:txBody>
          <a:bodyPr/>
          <a:lstStyle>
            <a:lvl1pPr algn="ctr">
              <a:defRPr sz="2000"/>
            </a:lvl1pPr>
            <a:lvl2pPr marL="647700" indent="-190500" algn="ctr">
              <a:defRPr sz="2000"/>
            </a:lvl2pPr>
            <a:lvl3pPr marL="1143000" indent="-228600" algn="ctr">
              <a:defRPr sz="2000"/>
            </a:lvl3pPr>
            <a:lvl4pPr marL="1625600" indent="-254000" algn="ctr">
              <a:defRPr sz="2000"/>
            </a:lvl4pPr>
            <a:lvl5pPr marL="2082800" indent="-254000" algn="ctr">
              <a:defRPr sz="2000"/>
            </a:lvl5pPr>
          </a:lstStyle>
          <a:p>
            <a:r>
              <a:t>THANK YOU FOR YOUR ATTENTION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30" name="Picture 14" descr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9995" y="6073254"/>
            <a:ext cx="4885153" cy="861053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Diasorszám"/>
          <p:cNvSpPr txBox="1">
            <a:spLocks noGrp="1"/>
          </p:cNvSpPr>
          <p:nvPr>
            <p:ph type="sldNum" sz="quarter" idx="2"/>
          </p:nvPr>
        </p:nvSpPr>
        <p:spPr>
          <a:xfrm>
            <a:off x="293398" y="6394781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792127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0D38A-D7C8-424C-AA4C-103CD470E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6AD8A-54F5-49E8-ADA6-F5B263208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7BC92-0569-41C7-AD28-87837B1EA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u-HU" dirty="0"/>
              <a:t>njniugzuv ouzgv7tugo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1BAE4-CE5B-40D4-8E64-FBBFD1ED2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4428" y="6308222"/>
            <a:ext cx="4291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bg1"/>
                </a:solidFill>
                <a:latin typeface="+mj-lt"/>
              </a:defRPr>
            </a:lvl1pPr>
          </a:lstStyle>
          <a:p>
            <a:fld id="{20B01981-BAC9-448B-9192-9C05FAA59408}" type="slidenum">
              <a:rPr lang="hu-HU" smtClean="0"/>
              <a:pPr/>
              <a:t>‹nº›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76274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90" r:id="rId3"/>
    <p:sldLayoutId id="2147483686" r:id="rId4"/>
    <p:sldLayoutId id="2147483688" r:id="rId5"/>
    <p:sldLayoutId id="2147483691" r:id="rId6"/>
    <p:sldLayoutId id="2147483687" r:id="rId7"/>
    <p:sldLayoutId id="2147483689" r:id="rId8"/>
    <p:sldLayoutId id="2147483666" r:id="rId9"/>
    <p:sldLayoutId id="214748369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docs.google.com/forms/d/13inFIelcB37QjI2P4qx78xoSp0WFEo0_OrviFwQMnnM/edit" TargetMode="External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github.com/HCEMM/" TargetMode="External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8D348D1-4A9C-837B-2EC5-C089E0924C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0" y="1588799"/>
            <a:ext cx="5702060" cy="2628671"/>
          </a:xfrm>
        </p:spPr>
        <p:txBody>
          <a:bodyPr>
            <a:normAutofit/>
          </a:bodyPr>
          <a:lstStyle/>
          <a:p>
            <a:r>
              <a:rPr lang="en-US" sz="2600" noProof="0" dirty="0"/>
              <a:t>Cutting-Edge Bioinformatics in a High-Performance Computing Environment</a:t>
            </a:r>
          </a:p>
          <a:p>
            <a:r>
              <a:rPr lang="en-US" sz="2600" b="0" i="1" noProof="0" dirty="0"/>
              <a:t>Results interpretation &amp; </a:t>
            </a:r>
          </a:p>
          <a:p>
            <a:r>
              <a:rPr lang="en-US" sz="2600" b="0" i="1" noProof="0" dirty="0"/>
              <a:t>What comes next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AAFFD82-476D-1120-CD4E-795F2BC8A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73691" y="4417621"/>
            <a:ext cx="5938838" cy="1152753"/>
          </a:xfrm>
        </p:spPr>
        <p:txBody>
          <a:bodyPr>
            <a:normAutofit fontScale="85000" lnSpcReduction="20000"/>
          </a:bodyPr>
          <a:lstStyle/>
          <a:p>
            <a:r>
              <a:rPr lang="en-US" noProof="0" dirty="0"/>
              <a:t>István Szepesy-Nagy</a:t>
            </a:r>
          </a:p>
          <a:p>
            <a:r>
              <a:rPr lang="en-US" noProof="0" dirty="0"/>
              <a:t>João Carlos Sequeira</a:t>
            </a:r>
          </a:p>
          <a:p>
            <a:r>
              <a:rPr lang="en-US" noProof="0" dirty="0"/>
              <a:t>Maria Kavoosi</a:t>
            </a:r>
          </a:p>
          <a:p>
            <a:r>
              <a:rPr lang="en-US" noProof="0" dirty="0"/>
              <a:t>Scientific Computing Advanced Core Facility</a:t>
            </a:r>
          </a:p>
        </p:txBody>
      </p:sp>
      <p:pic>
        <p:nvPicPr>
          <p:cNvPr id="10" name="Kép 10">
            <a:extLst>
              <a:ext uri="{FF2B5EF4-FFF2-40B4-BE49-F238E27FC236}">
                <a16:creationId xmlns:a16="http://schemas.microsoft.com/office/drawing/2014/main" id="{9C51B3C2-FABD-04DE-D6B2-3238F26ED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67" y="2811100"/>
            <a:ext cx="4291696" cy="1072924"/>
          </a:xfrm>
          <a:prstGeom prst="rect">
            <a:avLst/>
          </a:prstGeom>
        </p:spPr>
      </p:pic>
      <p:pic>
        <p:nvPicPr>
          <p:cNvPr id="11" name="Kép 11">
            <a:extLst>
              <a:ext uri="{FF2B5EF4-FFF2-40B4-BE49-F238E27FC236}">
                <a16:creationId xmlns:a16="http://schemas.microsoft.com/office/drawing/2014/main" id="{AA4F0EAC-24A1-B19D-FD6D-DA4E29030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4189162"/>
            <a:ext cx="1881052" cy="186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97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09CE024-4ADF-527E-B5EA-42F5B7B82B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B01981-BAC9-448B-9192-9C05FAA59408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7" name="Google Shape;129;p24">
            <a:extLst>
              <a:ext uri="{FF2B5EF4-FFF2-40B4-BE49-F238E27FC236}">
                <a16:creationId xmlns:a16="http://schemas.microsoft.com/office/drawing/2014/main" id="{3DC8F9E3-9219-5422-D087-0796BCC8DFCE}"/>
              </a:ext>
            </a:extLst>
          </p:cNvPr>
          <p:cNvSpPr txBox="1">
            <a:spLocks/>
          </p:cNvSpPr>
          <p:nvPr/>
        </p:nvSpPr>
        <p:spPr>
          <a:xfrm>
            <a:off x="450518" y="399459"/>
            <a:ext cx="9987631" cy="6432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F0"/>
              </a:buClr>
              <a:buSzPts val="1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/>
                <a:ea typeface="Verdana"/>
                <a:sym typeface="Verdana"/>
              </a:rPr>
              <a:t>Results interpretation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" name="AutoShape 2" descr="preview url image">
            <a:extLst>
              <a:ext uri="{FF2B5EF4-FFF2-40B4-BE49-F238E27FC236}">
                <a16:creationId xmlns:a16="http://schemas.microsoft.com/office/drawing/2014/main" id="{B9C4CD11-9756-1738-555C-97416093F4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E5AD44-2B1A-BEEF-FE0B-C12630927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305" y="285007"/>
            <a:ext cx="5026177" cy="43507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9B679EF-05C2-525A-E609-5362521B8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18" y="1816677"/>
            <a:ext cx="5303391" cy="404030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68A24A4-F6B8-5B36-8C33-CE140DE24ADB}"/>
              </a:ext>
            </a:extLst>
          </p:cNvPr>
          <p:cNvSpPr txBox="1"/>
          <p:nvPr/>
        </p:nvSpPr>
        <p:spPr>
          <a:xfrm>
            <a:off x="1478463" y="1157191"/>
            <a:ext cx="3335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/>
              <a:t>Limma</a:t>
            </a:r>
            <a:r>
              <a:rPr lang="pt-PT" dirty="0"/>
              <a:t> </a:t>
            </a:r>
            <a:r>
              <a:rPr lang="pt-PT" dirty="0" err="1"/>
              <a:t>results</a:t>
            </a:r>
            <a:r>
              <a:rPr lang="pt-PT" dirty="0"/>
              <a:t> </a:t>
            </a:r>
            <a:r>
              <a:rPr lang="pt-PT" dirty="0" err="1"/>
              <a:t>aligned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paper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4613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0D0D-B5B2-FB35-EC40-3FAC9ABE7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E9FAE5E-5899-641E-BD25-73E417016F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B01981-BAC9-448B-9192-9C05FAA59408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7" name="Google Shape;129;p24">
            <a:extLst>
              <a:ext uri="{FF2B5EF4-FFF2-40B4-BE49-F238E27FC236}">
                <a16:creationId xmlns:a16="http://schemas.microsoft.com/office/drawing/2014/main" id="{5C54AC6F-DC62-0DF5-45B1-DB8B8FEB25CA}"/>
              </a:ext>
            </a:extLst>
          </p:cNvPr>
          <p:cNvSpPr txBox="1">
            <a:spLocks/>
          </p:cNvSpPr>
          <p:nvPr/>
        </p:nvSpPr>
        <p:spPr>
          <a:xfrm>
            <a:off x="450519" y="399459"/>
            <a:ext cx="4157108" cy="6432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F0"/>
              </a:buClr>
              <a:buSzPts val="1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/>
                <a:ea typeface="Verdana"/>
                <a:sym typeface="Verdana"/>
              </a:rPr>
              <a:t>Question and Answers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" name="AutoShape 2" descr="preview url image">
            <a:extLst>
              <a:ext uri="{FF2B5EF4-FFF2-40B4-BE49-F238E27FC236}">
                <a16:creationId xmlns:a16="http://schemas.microsoft.com/office/drawing/2014/main" id="{EE3D2BFD-6028-0672-0008-7C3D05E2C9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3" name="Picture 4" descr="Overview of the experimental steps in a RNAseq protocol. The cDNA... |  Download Scientific Diagram">
            <a:extLst>
              <a:ext uri="{FF2B5EF4-FFF2-40B4-BE49-F238E27FC236}">
                <a16:creationId xmlns:a16="http://schemas.microsoft.com/office/drawing/2014/main" id="{2C8D00C0-8EFC-CFED-599A-C3F9E93AA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34" y="2032590"/>
            <a:ext cx="6188912" cy="297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6">
            <a:extLst>
              <a:ext uri="{FF2B5EF4-FFF2-40B4-BE49-F238E27FC236}">
                <a16:creationId xmlns:a16="http://schemas.microsoft.com/office/drawing/2014/main" id="{A307C9F4-71AB-87D8-8E52-0355BE0A838A}"/>
              </a:ext>
            </a:extLst>
          </p:cNvPr>
          <p:cNvSpPr/>
          <p:nvPr/>
        </p:nvSpPr>
        <p:spPr>
          <a:xfrm>
            <a:off x="487933" y="3487257"/>
            <a:ext cx="3678625" cy="1516011"/>
          </a:xfrm>
          <a:prstGeom prst="rect">
            <a:avLst/>
          </a:prstGeom>
          <a:noFill/>
          <a:ln w="38100">
            <a:solidFill>
              <a:srgbClr val="12A0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Bent 5">
            <a:extLst>
              <a:ext uri="{FF2B5EF4-FFF2-40B4-BE49-F238E27FC236}">
                <a16:creationId xmlns:a16="http://schemas.microsoft.com/office/drawing/2014/main" id="{4A2FA27C-9AA9-29E7-207E-2BAE672D7A6A}"/>
              </a:ext>
            </a:extLst>
          </p:cNvPr>
          <p:cNvSpPr/>
          <p:nvPr/>
        </p:nvSpPr>
        <p:spPr>
          <a:xfrm flipV="1">
            <a:off x="1000663" y="4477108"/>
            <a:ext cx="6909759" cy="1500995"/>
          </a:xfrm>
          <a:prstGeom prst="bentArrow">
            <a:avLst>
              <a:gd name="adj1" fmla="val 6476"/>
              <a:gd name="adj2" fmla="val 1080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18FD6773-176E-EF17-FC19-6FFF29E5D851}"/>
              </a:ext>
            </a:extLst>
          </p:cNvPr>
          <p:cNvSpPr txBox="1"/>
          <p:nvPr/>
        </p:nvSpPr>
        <p:spPr>
          <a:xfrm>
            <a:off x="1226941" y="5002970"/>
            <a:ext cx="2857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Bioinformatics data analysis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18E4D6C-1910-BA14-E589-273DFE6B3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442" y="2658506"/>
            <a:ext cx="3898335" cy="363720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FB05930-BEC4-18E6-D9B9-5AA1183F2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638" y="18803"/>
            <a:ext cx="3384362" cy="6858000"/>
          </a:xfrm>
          <a:prstGeom prst="rect">
            <a:avLst/>
          </a:prstGeom>
        </p:spPr>
      </p:pic>
      <p:sp>
        <p:nvSpPr>
          <p:cNvPr id="19" name="AutoShape 2" descr="Pipeline">
            <a:extLst>
              <a:ext uri="{FF2B5EF4-FFF2-40B4-BE49-F238E27FC236}">
                <a16:creationId xmlns:a16="http://schemas.microsoft.com/office/drawing/2014/main" id="{3A667708-984A-932C-ACA4-B9285891B4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6535555-C817-471C-7854-10639254CB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2" y="1042739"/>
            <a:ext cx="5907153" cy="496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8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4C5C-D340-5529-2845-4D4234B7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 descr="What Is CI/CD and How Does It Work? | Black Duck">
            <a:extLst>
              <a:ext uri="{FF2B5EF4-FFF2-40B4-BE49-F238E27FC236}">
                <a16:creationId xmlns:a16="http://schemas.microsoft.com/office/drawing/2014/main" id="{78524B4E-0A1F-066C-1C23-D872F7643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835" y="4692664"/>
            <a:ext cx="40386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2B13B5B-DA72-FEF7-86A6-7675BD87F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B01981-BAC9-448B-9192-9C05FAA59408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Google Shape;129;p24">
            <a:extLst>
              <a:ext uri="{FF2B5EF4-FFF2-40B4-BE49-F238E27FC236}">
                <a16:creationId xmlns:a16="http://schemas.microsoft.com/office/drawing/2014/main" id="{271ED0B3-BB9D-31F2-8E09-2D0CC3611880}"/>
              </a:ext>
            </a:extLst>
          </p:cNvPr>
          <p:cNvSpPr txBox="1">
            <a:spLocks/>
          </p:cNvSpPr>
          <p:nvPr/>
        </p:nvSpPr>
        <p:spPr>
          <a:xfrm>
            <a:off x="450518" y="399459"/>
            <a:ext cx="9987631" cy="6432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AF0"/>
              </a:buClr>
              <a:buSzPts val="18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/>
                <a:ea typeface="Verdana"/>
                <a:sym typeface="Verdana"/>
              </a:rPr>
              <a:t>What comes next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" name="AutoShape 2" descr="preview url image">
            <a:extLst>
              <a:ext uri="{FF2B5EF4-FFF2-40B4-BE49-F238E27FC236}">
                <a16:creationId xmlns:a16="http://schemas.microsoft.com/office/drawing/2014/main" id="{1E155BC5-D25F-7819-4E0B-38FF17686C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59406B-141F-6F3E-DD17-C714D780F09E}"/>
              </a:ext>
            </a:extLst>
          </p:cNvPr>
          <p:cNvSpPr txBox="1"/>
          <p:nvPr/>
        </p:nvSpPr>
        <p:spPr>
          <a:xfrm>
            <a:off x="450518" y="1605671"/>
            <a:ext cx="8664680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r>
              <a:rPr lang="pt-PT" sz="2000" dirty="0">
                <a:hlinkClick r:id="rId3"/>
              </a:rPr>
              <a:t>Register</a:t>
            </a:r>
            <a:r>
              <a:rPr lang="pt-PT" sz="2000" dirty="0"/>
              <a:t> to </a:t>
            </a:r>
            <a:r>
              <a:rPr lang="pt-PT" sz="2000" dirty="0" err="1"/>
              <a:t>keep</a:t>
            </a:r>
            <a:r>
              <a:rPr lang="pt-PT" sz="2000" dirty="0"/>
              <a:t> </a:t>
            </a:r>
            <a:r>
              <a:rPr lang="pt-PT" sz="2000" dirty="0" err="1"/>
              <a:t>using</a:t>
            </a:r>
            <a:r>
              <a:rPr lang="pt-PT" sz="2000" dirty="0"/>
              <a:t> </a:t>
            </a:r>
            <a:r>
              <a:rPr lang="pt-PT" sz="2000" dirty="0" err="1"/>
              <a:t>Puli</a:t>
            </a:r>
            <a:r>
              <a:rPr lang="pt-PT" sz="2000" dirty="0"/>
              <a:t>.</a:t>
            </a:r>
          </a:p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r>
              <a:rPr lang="pt-PT" sz="2000" dirty="0" err="1"/>
              <a:t>Join</a:t>
            </a:r>
            <a:r>
              <a:rPr lang="pt-PT" sz="2000" dirty="0"/>
              <a:t> </a:t>
            </a:r>
            <a:r>
              <a:rPr lang="pt-PT" sz="2000" dirty="0" err="1"/>
              <a:t>HCEMM’s</a:t>
            </a:r>
            <a:r>
              <a:rPr lang="pt-PT" sz="2000" dirty="0"/>
              <a:t> </a:t>
            </a:r>
            <a:r>
              <a:rPr lang="pt-PT" sz="2000" dirty="0" err="1"/>
              <a:t>bioinformatics</a:t>
            </a:r>
            <a:r>
              <a:rPr lang="pt-PT" sz="2000" dirty="0"/>
              <a:t> network </a:t>
            </a:r>
            <a:r>
              <a:rPr lang="pt-PT" sz="2000" dirty="0" err="1"/>
              <a:t>at</a:t>
            </a:r>
            <a:r>
              <a:rPr lang="pt-PT" sz="2000" dirty="0"/>
              <a:t> GitHub: </a:t>
            </a:r>
            <a:r>
              <a:rPr lang="pt-PT" sz="2000" dirty="0">
                <a:hlinkClick r:id="rId4"/>
              </a:rPr>
              <a:t>https://github.com/HCEMM/</a:t>
            </a:r>
            <a:endParaRPr lang="pt-PT" sz="2000" dirty="0"/>
          </a:p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r>
              <a:rPr lang="pt-PT" sz="2000" dirty="0"/>
              <a:t>Future workshops</a:t>
            </a:r>
          </a:p>
          <a:p>
            <a:pPr marL="742950" lvl="1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r>
              <a:rPr lang="pt-PT" sz="2000" dirty="0" err="1"/>
              <a:t>Galaxy</a:t>
            </a:r>
            <a:r>
              <a:rPr lang="pt-PT" sz="2000" dirty="0"/>
              <a:t>: a </a:t>
            </a:r>
            <a:r>
              <a:rPr lang="pt-PT" sz="2000" dirty="0" err="1"/>
              <a:t>graphical</a:t>
            </a:r>
            <a:r>
              <a:rPr lang="pt-PT" sz="2000" dirty="0"/>
              <a:t> interface for </a:t>
            </a:r>
            <a:r>
              <a:rPr lang="pt-PT" sz="2000" dirty="0" err="1"/>
              <a:t>bioinformatics</a:t>
            </a:r>
            <a:endParaRPr lang="pt-PT" sz="2000" dirty="0"/>
          </a:p>
          <a:p>
            <a:pPr marL="742950" lvl="1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r>
              <a:rPr lang="pt-PT" sz="2000" dirty="0" err="1"/>
              <a:t>Reproducible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structured</a:t>
            </a:r>
            <a:r>
              <a:rPr lang="pt-PT" sz="2000" dirty="0"/>
              <a:t> </a:t>
            </a:r>
            <a:r>
              <a:rPr lang="pt-PT" sz="2000" dirty="0" err="1"/>
              <a:t>analysis</a:t>
            </a:r>
            <a:r>
              <a:rPr lang="pt-PT" sz="2000" dirty="0"/>
              <a:t>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workflow</a:t>
            </a:r>
            <a:r>
              <a:rPr lang="pt-PT" sz="2000" dirty="0"/>
              <a:t> managers</a:t>
            </a:r>
          </a:p>
          <a:p>
            <a:pPr marL="742950" lvl="1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r>
              <a:rPr lang="pt-PT" sz="2000" dirty="0" err="1"/>
              <a:t>Continuous</a:t>
            </a:r>
            <a:r>
              <a:rPr lang="pt-PT" sz="2000" dirty="0"/>
              <a:t> </a:t>
            </a:r>
            <a:r>
              <a:rPr lang="pt-PT" sz="2000" dirty="0" err="1"/>
              <a:t>integration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deployment</a:t>
            </a:r>
            <a:r>
              <a:rPr lang="pt-PT" sz="2000" dirty="0"/>
              <a:t> in </a:t>
            </a:r>
            <a:r>
              <a:rPr lang="pt-PT" sz="2000" dirty="0" err="1"/>
              <a:t>biotools</a:t>
            </a:r>
            <a:r>
              <a:rPr lang="pt-PT" sz="2000" dirty="0"/>
              <a:t> </a:t>
            </a:r>
            <a:r>
              <a:rPr lang="pt-PT" sz="2000" dirty="0" err="1"/>
              <a:t>deveopment</a:t>
            </a:r>
            <a:endParaRPr lang="pt-PT" sz="2000" dirty="0"/>
          </a:p>
          <a:p>
            <a:pPr marL="742950" lvl="1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Clr>
                <a:srgbClr val="00AAF0"/>
              </a:buClr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1B6A295-F583-FFDC-B593-27D854082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282" y="828236"/>
            <a:ext cx="51816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hub Logo - Free social media icons">
            <a:extLst>
              <a:ext uri="{FF2B5EF4-FFF2-40B4-BE49-F238E27FC236}">
                <a16:creationId xmlns:a16="http://schemas.microsoft.com/office/drawing/2014/main" id="{66E28CC5-5F82-0445-814F-F9BF669DC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061" y="2028275"/>
            <a:ext cx="1400725" cy="140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bout Galaxy | Genome Sciences Institute | The Huck Institutes (en-US)">
            <a:extLst>
              <a:ext uri="{FF2B5EF4-FFF2-40B4-BE49-F238E27FC236}">
                <a16:creationId xmlns:a16="http://schemas.microsoft.com/office/drawing/2014/main" id="{343C1BB5-10C6-582F-1D77-F3916AC6A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7908" y="282947"/>
            <a:ext cx="4157948" cy="97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nakemake · GitHub">
            <a:extLst>
              <a:ext uri="{FF2B5EF4-FFF2-40B4-BE49-F238E27FC236}">
                <a16:creationId xmlns:a16="http://schemas.microsoft.com/office/drawing/2014/main" id="{64313168-1887-61BC-F129-10CBF2C7E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7045" y="3276600"/>
            <a:ext cx="1694932" cy="169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EA583F8A-56AA-8BBF-486F-22B0AA9D37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8" t="28381" r="5180" b="23550"/>
          <a:stretch/>
        </p:blipFill>
        <p:spPr bwMode="auto">
          <a:xfrm>
            <a:off x="2498038" y="5082837"/>
            <a:ext cx="3597962" cy="94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40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3">
            <a:extLst>
              <a:ext uri="{FF2B5EF4-FFF2-40B4-BE49-F238E27FC236}">
                <a16:creationId xmlns:a16="http://schemas.microsoft.com/office/drawing/2014/main" id="{AAF88E92-C673-4C8D-A504-5C01A074BE15}"/>
              </a:ext>
            </a:extLst>
          </p:cNvPr>
          <p:cNvSpPr txBox="1">
            <a:spLocks/>
          </p:cNvSpPr>
          <p:nvPr/>
        </p:nvSpPr>
        <p:spPr>
          <a:xfrm>
            <a:off x="209179" y="6394340"/>
            <a:ext cx="429126" cy="365125"/>
          </a:xfrm>
          <a:prstGeom prst="rect">
            <a:avLst/>
          </a:prstGeom>
        </p:spPr>
        <p:txBody>
          <a:bodyPr/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B01981-BAC9-448B-9192-9C05FAA59408}" type="slidenum">
              <a:rPr lang="en-US" sz="1200" b="1" noProof="0" smtClean="0">
                <a:solidFill>
                  <a:schemeClr val="bg1"/>
                </a:solidFill>
                <a:latin typeface="+mj-lt"/>
              </a:rPr>
              <a:pPr/>
              <a:t>5</a:t>
            </a:fld>
            <a:endParaRPr lang="en-US" sz="1200" b="1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446DA4-BC32-08EA-5ADC-C65D845DA317}"/>
              </a:ext>
            </a:extLst>
          </p:cNvPr>
          <p:cNvSpPr txBox="1">
            <a:spLocks/>
          </p:cNvSpPr>
          <p:nvPr/>
        </p:nvSpPr>
        <p:spPr>
          <a:xfrm>
            <a:off x="3109118" y="3585419"/>
            <a:ext cx="5973763" cy="12320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AAF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Thank you for your attention!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Myriad Pr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777394DB-89E5-5947-A806-3D77D4ACE7EC}" vid="{2E4A4D21-71AC-AA4E-9AF2-ACDB3D6CD4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2134</TotalTime>
  <Words>96</Words>
  <Application>Microsoft Macintosh PowerPoint</Application>
  <PresentationFormat>Ecrã Panorâmico</PresentationFormat>
  <Paragraphs>28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0" baseType="lpstr">
      <vt:lpstr>Arial</vt:lpstr>
      <vt:lpstr>Calibri</vt:lpstr>
      <vt:lpstr>Myriad Pro</vt:lpstr>
      <vt:lpstr>Verdana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João Carlos Sequeira da Costa</cp:lastModifiedBy>
  <cp:revision>271</cp:revision>
  <dcterms:created xsi:type="dcterms:W3CDTF">2021-03-07T20:33:45Z</dcterms:created>
  <dcterms:modified xsi:type="dcterms:W3CDTF">2026-02-26T23:15:58Z</dcterms:modified>
</cp:coreProperties>
</file>