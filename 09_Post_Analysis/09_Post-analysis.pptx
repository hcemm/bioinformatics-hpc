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81" r:id="rId2"/>
    <p:sldId id="297" r:id="rId3"/>
    <p:sldId id="298" r:id="rId4"/>
    <p:sldId id="266" r:id="rId5"/>
  </p:sldIdLst>
  <p:sldSz cx="12192000" cy="6858000"/>
  <p:notesSz cx="9144000" cy="6858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26" userDrawn="1">
          <p15:clr>
            <a:srgbClr val="A4A3A4"/>
          </p15:clr>
        </p15:guide>
        <p15:guide id="2" pos="354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AAF0"/>
    <a:srgbClr val="15BEF0"/>
    <a:srgbClr val="12A0CB"/>
    <a:srgbClr val="4CC3F4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4" autoAdjust="0"/>
    <p:restoredTop sz="94660"/>
  </p:normalViewPr>
  <p:slideViewPr>
    <p:cSldViewPr snapToGrid="0">
      <p:cViewPr varScale="1">
        <p:scale>
          <a:sx n="88" d="100"/>
          <a:sy n="88" d="100"/>
        </p:scale>
        <p:origin x="176" y="600"/>
      </p:cViewPr>
      <p:guideLst>
        <p:guide orient="horz" pos="1026"/>
        <p:guide pos="3545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howGuides="1">
      <p:cViewPr varScale="1">
        <p:scale>
          <a:sx n="132" d="100"/>
          <a:sy n="132" d="100"/>
        </p:scale>
        <p:origin x="2600" y="176"/>
      </p:cViewPr>
      <p:guideLst>
        <p:guide orient="horz" pos="2160"/>
        <p:guide pos="288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659C8-08AF-4C7B-95C0-6ED96EE71E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218364" y="6513910"/>
            <a:ext cx="518615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BC11C0-8907-429F-A3F4-8C35EF8784CB}" type="slidenum">
              <a:rPr lang="hu-HU" smtClean="0"/>
              <a:t>‹nº›</a:t>
            </a:fld>
            <a:endParaRPr lang="hu-HU" dirty="0"/>
          </a:p>
        </p:txBody>
      </p:sp>
      <p:sp>
        <p:nvSpPr>
          <p:cNvPr id="7" name="Header Placeholder 6">
            <a:extLst>
              <a:ext uri="{FF2B5EF4-FFF2-40B4-BE49-F238E27FC236}">
                <a16:creationId xmlns:a16="http://schemas.microsoft.com/office/drawing/2014/main" id="{5AC5C426-58DE-40B2-9DBA-B20D2BE138F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CF4D2BF-EA35-46ED-968D-E2560245FE9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DE400B-5F95-4EE3-9D17-5032615B1C24}" type="datetimeFigureOut">
              <a:rPr lang="hu-HU" smtClean="0"/>
              <a:t>2026. 02. 26.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15193766"/>
      </p:ext>
    </p:extLst>
  </p:cSld>
  <p:clrMap bg1="dk1" tx1="lt1" bg2="dk2" tx2="lt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BC41BF-2966-492C-BF11-EDF0CF116384}" type="datetimeFigureOut">
              <a:rPr lang="hu-HU" smtClean="0"/>
              <a:t>2026. 02. 26.</a:t>
            </a:fld>
            <a:endParaRPr lang="hu-H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186CAE-03F7-4637-AB83-737E9CC5D862}" type="slidenum">
              <a:rPr lang="hu-HU" smtClean="0"/>
              <a:t>‹nº›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968128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16B41C1-69C2-459A-BC13-43DAB41CC8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26227" t="33815" r="27274" b="33331"/>
          <a:stretch/>
        </p:blipFill>
        <p:spPr>
          <a:xfrm>
            <a:off x="-17195" y="0"/>
            <a:ext cx="12209195" cy="6858000"/>
          </a:xfrm>
          <a:prstGeom prst="rect">
            <a:avLst/>
          </a:prstGeom>
          <a:solidFill>
            <a:schemeClr val="bg1"/>
          </a:solidFill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E59E6A2-C40F-4E4C-B6FB-9BC58AAD0739}"/>
              </a:ext>
            </a:extLst>
          </p:cNvPr>
          <p:cNvCxnSpPr>
            <a:cxnSpLocks/>
          </p:cNvCxnSpPr>
          <p:nvPr userDrawn="1"/>
        </p:nvCxnSpPr>
        <p:spPr>
          <a:xfrm>
            <a:off x="5146463" y="1719618"/>
            <a:ext cx="0" cy="5138382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2FA7B8-6484-754F-B56D-227047F07D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86400" y="1719263"/>
            <a:ext cx="5938838" cy="2073091"/>
          </a:xfrm>
        </p:spPr>
        <p:txBody>
          <a:bodyPr/>
          <a:lstStyle>
            <a:lvl1pPr marL="0" indent="0">
              <a:buNone/>
              <a:defRPr sz="2400" b="1" i="0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1">
                <a:solidFill>
                  <a:srgbClr val="00AAF0"/>
                </a:solidFill>
                <a:latin typeface="+mj-lt"/>
              </a:defRPr>
            </a:lvl2pPr>
            <a:lvl3pPr>
              <a:defRPr b="1">
                <a:solidFill>
                  <a:srgbClr val="00AAF0"/>
                </a:solidFill>
                <a:latin typeface="+mj-lt"/>
              </a:defRPr>
            </a:lvl3pPr>
            <a:lvl4pPr>
              <a:defRPr b="1">
                <a:solidFill>
                  <a:srgbClr val="00AAF0"/>
                </a:solidFill>
                <a:latin typeface="+mj-lt"/>
              </a:defRPr>
            </a:lvl4pPr>
            <a:lvl5pPr>
              <a:defRPr b="1">
                <a:solidFill>
                  <a:srgbClr val="00AAF0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HERE TO INSERT YOUR TITLE. DON’T CHANGE FONT TYPE, SIZE OR COLOUR. USE ONLY CAPITAL LETTERS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54DC9044-8B3E-244C-9490-CC5DCA40F4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0" y="3933074"/>
            <a:ext cx="5938838" cy="2073091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1">
                <a:solidFill>
                  <a:srgbClr val="00AAF0"/>
                </a:solidFill>
                <a:latin typeface="+mj-lt"/>
              </a:defRPr>
            </a:lvl2pPr>
            <a:lvl3pPr>
              <a:defRPr b="1">
                <a:solidFill>
                  <a:srgbClr val="00AAF0"/>
                </a:solidFill>
                <a:latin typeface="+mj-lt"/>
              </a:defRPr>
            </a:lvl3pPr>
            <a:lvl4pPr>
              <a:defRPr b="1">
                <a:solidFill>
                  <a:srgbClr val="00AAF0"/>
                </a:solidFill>
                <a:latin typeface="+mj-lt"/>
              </a:defRPr>
            </a:lvl4pPr>
            <a:lvl5pPr>
              <a:defRPr b="1">
                <a:solidFill>
                  <a:srgbClr val="00AAF0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HERE TO INSERT YOUR SUBTITLE. DON’T CHANGE FONT TYPE, SIZE OR COLOUR. USE ONLY CAPITAL LETTERS. THIS BOX CAN BE REPOSITIONED AFTER THE TITLE HAS BEEN TYPED IN.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566D1B-A7A6-0049-B54A-7EF500F3C5D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55609" y="1621551"/>
            <a:ext cx="3864029" cy="9982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27359AA-0A80-9672-4FD6-E1A8CA82870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60203" y="6303365"/>
            <a:ext cx="4072530" cy="3533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972AD7D-D400-1994-7801-42815BC6330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05834" y="6320098"/>
            <a:ext cx="1608487" cy="330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6463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_CONTENT_WHITE_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7513DF9-8A1A-4A0A-8ED4-95037BF1B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4114" b="60234"/>
          <a:stretch/>
        </p:blipFill>
        <p:spPr>
          <a:xfrm>
            <a:off x="-3546" y="-19314"/>
            <a:ext cx="12195546" cy="6877314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C4F6F1-583A-D542-955E-38EC9E30F28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065819" y="-1"/>
            <a:ext cx="5126181" cy="592974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hu-HU" dirty="0" err="1"/>
              <a:t>Insert</a:t>
            </a:r>
            <a:r>
              <a:rPr lang="hu-HU" dirty="0"/>
              <a:t> </a:t>
            </a:r>
            <a:r>
              <a:rPr lang="hu-HU" dirty="0" err="1"/>
              <a:t>picture</a:t>
            </a:r>
            <a:r>
              <a:rPr lang="hu-HU" dirty="0"/>
              <a:t> here </a:t>
            </a:r>
            <a:r>
              <a:rPr lang="hu-HU" dirty="0" err="1"/>
              <a:t>by</a:t>
            </a:r>
            <a:r>
              <a:rPr lang="hu-HU" dirty="0"/>
              <a:t> </a:t>
            </a:r>
            <a:r>
              <a:rPr lang="hu-HU" dirty="0" err="1"/>
              <a:t>clicking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icon</a:t>
            </a:r>
            <a:r>
              <a:rPr lang="hu-HU" dirty="0"/>
              <a:t> in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middle</a:t>
            </a:r>
            <a:endParaRPr lang="hu-HU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698635-3212-0D46-82C5-7D0B1B2CE5BF}"/>
              </a:ext>
            </a:extLst>
          </p:cNvPr>
          <p:cNvCxnSpPr>
            <a:cxnSpLocks/>
          </p:cNvCxnSpPr>
          <p:nvPr userDrawn="1"/>
        </p:nvCxnSpPr>
        <p:spPr>
          <a:xfrm>
            <a:off x="6400800" y="2060575"/>
            <a:ext cx="0" cy="47974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28119D6-EDFC-7744-81CC-932C87A09A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7037" y="401864"/>
            <a:ext cx="5973763" cy="73045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SLIDE TITLE. DON’T CHANGE FONT TYPE, SIZE OR COLOUR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0798DD75-DE33-0B41-B682-18DE6E9D293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037" y="1133088"/>
            <a:ext cx="5668961" cy="647586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SUBTITLE. DON’T CHANGE FONT STYPE, SIZE OR COLOUR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19730F1-BCF9-5C43-984E-AA46329106D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7037" y="2061344"/>
            <a:ext cx="5694363" cy="3868400"/>
          </a:xfrm>
        </p:spPr>
        <p:txBody>
          <a:bodyPr>
            <a:normAutofit/>
          </a:bodyPr>
          <a:lstStyle>
            <a:lvl1pPr marL="0" indent="0">
              <a:buClr>
                <a:srgbClr val="00AAF0"/>
              </a:buClr>
              <a:buFont typeface="Arial" panose="020B0604020202020204" pitchFamily="34" charset="0"/>
              <a:buNone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8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1430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6002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114550" indent="-28575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dirty="0"/>
              <a:t>Click here to insert your text.</a:t>
            </a:r>
            <a:endParaRPr lang="hu-HU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93058AA-CEDF-EA41-A58C-E422E63F688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179E2A5-D647-4281-B338-FF05ADEFE3E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‹nº›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21088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_WHITE_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63F390D-3F4B-48E5-BBE0-BE88BB7427B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26656" t="32937" r="26232" b="33726"/>
          <a:stretch/>
        </p:blipFill>
        <p:spPr>
          <a:xfrm>
            <a:off x="-3548" y="-39095"/>
            <a:ext cx="12195548" cy="6910742"/>
          </a:xfrm>
          <a:prstGeom prst="rect">
            <a:avLst/>
          </a:prstGeom>
        </p:spPr>
      </p:pic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753032CB-6C47-B940-9EAF-51FBAF9EB61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7037" y="401864"/>
            <a:ext cx="5973763" cy="73045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SLIDE TITLE. DON’T CHANGE FONT TYPE, SIZE OR COLOUR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43C965CC-DF89-2749-B323-063B9A91C3F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037" y="1133088"/>
            <a:ext cx="5668961" cy="647586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SUBTITLE. DON’T CHANGE FONT STYPE, SIZE OR COLOUR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A724CD13-4229-DD41-BE36-29119CF32BD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7037" y="2061344"/>
            <a:ext cx="10964712" cy="3868400"/>
          </a:xfrm>
        </p:spPr>
        <p:txBody>
          <a:bodyPr>
            <a:normAutofit/>
          </a:bodyPr>
          <a:lstStyle>
            <a:lvl1pPr marL="0" indent="0">
              <a:buClr>
                <a:srgbClr val="00AAF0"/>
              </a:buClr>
              <a:buFont typeface="Arial" panose="020B0604020202020204" pitchFamily="34" charset="0"/>
              <a:buNone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8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1430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6002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114550" indent="-28575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dirty="0"/>
              <a:t>Click here to insert your text.</a:t>
            </a:r>
            <a:endParaRPr lang="hu-HU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151321F-B004-A64D-B518-5A901CFAB3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A5893AB0-550D-2940-990E-016DEE0E29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‹nº›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987105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_CONTENT_BLACK_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A44F27A0-3814-BB41-957D-3CC3CEFCBF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4114" b="60234"/>
          <a:stretch/>
        </p:blipFill>
        <p:spPr>
          <a:xfrm>
            <a:off x="-3546" y="-19314"/>
            <a:ext cx="12170608" cy="6877314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C4F6F1-583A-D542-955E-38EC9E30F28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065819" y="-1"/>
            <a:ext cx="5126181" cy="592974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hu-HU" dirty="0" err="1"/>
              <a:t>Insert</a:t>
            </a:r>
            <a:r>
              <a:rPr lang="hu-HU" dirty="0"/>
              <a:t> </a:t>
            </a:r>
            <a:r>
              <a:rPr lang="hu-HU" dirty="0" err="1"/>
              <a:t>picture</a:t>
            </a:r>
            <a:r>
              <a:rPr lang="hu-HU" dirty="0"/>
              <a:t> here </a:t>
            </a:r>
            <a:r>
              <a:rPr lang="hu-HU" dirty="0" err="1"/>
              <a:t>by</a:t>
            </a:r>
            <a:r>
              <a:rPr lang="hu-HU" dirty="0"/>
              <a:t> </a:t>
            </a:r>
            <a:r>
              <a:rPr lang="hu-HU" dirty="0" err="1"/>
              <a:t>clicking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icon</a:t>
            </a:r>
            <a:r>
              <a:rPr lang="hu-HU" dirty="0"/>
              <a:t> in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middle</a:t>
            </a:r>
            <a:endParaRPr lang="hu-HU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698635-3212-0D46-82C5-7D0B1B2CE5BF}"/>
              </a:ext>
            </a:extLst>
          </p:cNvPr>
          <p:cNvCxnSpPr>
            <a:cxnSpLocks/>
          </p:cNvCxnSpPr>
          <p:nvPr userDrawn="1"/>
        </p:nvCxnSpPr>
        <p:spPr>
          <a:xfrm>
            <a:off x="6400800" y="2060575"/>
            <a:ext cx="0" cy="47974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28119D6-EDFC-7744-81CC-932C87A09A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7037" y="401864"/>
            <a:ext cx="5973763" cy="73045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SLIDE TITLE. DON’T CHANGE FONT TYPE, SIZE OR COLOUR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0798DD75-DE33-0B41-B682-18DE6E9D293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037" y="1133088"/>
            <a:ext cx="5668961" cy="647586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SUBTITLE. DON’T CHANGE FONT STYPE, SIZE OR COLOUR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19730F1-BCF9-5C43-984E-AA46329106D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7037" y="2061344"/>
            <a:ext cx="5694363" cy="3868400"/>
          </a:xfrm>
        </p:spPr>
        <p:txBody>
          <a:bodyPr>
            <a:normAutofit/>
          </a:bodyPr>
          <a:lstStyle>
            <a:lvl1pPr marL="0" indent="0">
              <a:buClr>
                <a:srgbClr val="00AAF0"/>
              </a:buClr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8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1430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6002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114550" indent="-28575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dirty="0"/>
              <a:t>Click here to insert your text.</a:t>
            </a:r>
            <a:endParaRPr lang="hu-HU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2CC5BF0-5767-6B4D-A4D1-8E2D929B615E}"/>
              </a:ext>
            </a:extLst>
          </p:cNvPr>
          <p:cNvCxnSpPr>
            <a:cxnSpLocks/>
          </p:cNvCxnSpPr>
          <p:nvPr userDrawn="1"/>
        </p:nvCxnSpPr>
        <p:spPr>
          <a:xfrm>
            <a:off x="6553200" y="2212975"/>
            <a:ext cx="0" cy="47974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A5FB134E-DAFC-9C4A-8235-429A7AFE10B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id="{36934A0E-F115-204C-BDAA-486E556B1C7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‹nº›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551815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_CONTENT_BLACK_PLAIN_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C37B86DC-0B17-9742-8FFA-A916F91FBE4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7037" y="401864"/>
            <a:ext cx="5973763" cy="73045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SLIDE TITLE. DON’T CHANGE FONT TYPE, SIZE OR COLOUR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9A3FC41C-A6CE-5549-937F-7177850104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037" y="1133088"/>
            <a:ext cx="5668961" cy="647586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SUBTITLE. DON’T CHANGE FONT STYPE, SIZE OR COLOUR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D005B727-0A95-5B4C-987D-11BA1C3D819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7037" y="2061344"/>
            <a:ext cx="10964712" cy="3868400"/>
          </a:xfrm>
        </p:spPr>
        <p:txBody>
          <a:bodyPr>
            <a:normAutofit/>
          </a:bodyPr>
          <a:lstStyle>
            <a:lvl1pPr marL="0" indent="0">
              <a:buClr>
                <a:srgbClr val="00AAF0"/>
              </a:buClr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8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1430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6002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114550" indent="-28575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dirty="0"/>
              <a:t>Click here to insert your text.</a:t>
            </a:r>
            <a:endParaRPr lang="hu-HU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3CA013D-F100-7A49-A54E-95650F84414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4E1A571E-ED8F-8040-8C25-571CEE4C563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‹nº›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145784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_BLACK_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74ADBC8-8766-4DF2-8566-8F6A651B58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26227" t="33815" r="27274" b="33331"/>
          <a:stretch/>
        </p:blipFill>
        <p:spPr>
          <a:xfrm>
            <a:off x="-17195" y="13647"/>
            <a:ext cx="12209195" cy="685800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C37B86DC-0B17-9742-8FFA-A916F91FBE4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7037" y="401864"/>
            <a:ext cx="5973763" cy="73045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SLIDE TITLE. DON’T CHANGE FONT TYPE, SIZE OR COLOUR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9A3FC41C-A6CE-5549-937F-7177850104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037" y="1133088"/>
            <a:ext cx="5668961" cy="647586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SUBTITLE. DON’T CHANGE FONT STYPE, SIZE OR COLOUR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D005B727-0A95-5B4C-987D-11BA1C3D819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7037" y="2061344"/>
            <a:ext cx="10964712" cy="3868400"/>
          </a:xfrm>
        </p:spPr>
        <p:txBody>
          <a:bodyPr>
            <a:normAutofit/>
          </a:bodyPr>
          <a:lstStyle>
            <a:lvl1pPr marL="0" indent="0">
              <a:buClr>
                <a:srgbClr val="00AAF0"/>
              </a:buClr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8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1430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6002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114550" indent="-28575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dirty="0"/>
              <a:t>Click here to insert your text.</a:t>
            </a:r>
            <a:endParaRPr lang="hu-HU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84A4D71-829C-B34A-B072-26C084A594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194FDD80-13D5-6D42-BD04-530641C1F1E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‹nº›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71346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_DIVIDER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63F390D-3F4B-48E5-BBE0-BE88BB7427B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26656" t="32937" r="26232" b="33726"/>
          <a:stretch/>
        </p:blipFill>
        <p:spPr>
          <a:xfrm>
            <a:off x="-3548" y="-49121"/>
            <a:ext cx="12195548" cy="6910742"/>
          </a:xfrm>
          <a:prstGeom prst="rect">
            <a:avLst/>
          </a:prstGeom>
        </p:spPr>
      </p:pic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753032CB-6C47-B940-9EAF-51FBAF9EB61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518" y="399457"/>
            <a:ext cx="5973763" cy="1232035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CHAPTER TITLE. DON’T CHANGE FONT TYPE, SIZE OR COLOUR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43C965CC-DF89-2749-B323-063B9A91C3F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18" y="1806373"/>
            <a:ext cx="5973763" cy="1626789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SUBTITLE. DON’T CHANGE FONT STYPE, SIZE OR COLOUR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9FA14D5-B4D8-A649-BA67-CBA6E2F22C5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5A5B1E30-37C8-7F44-95F3-23710955CDB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‹nº›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863255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_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74ADBC8-8766-4DF2-8566-8F6A651B58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26227" t="33815" r="27274" b="33331"/>
          <a:stretch/>
        </p:blipFill>
        <p:spPr>
          <a:xfrm>
            <a:off x="-17195" y="13647"/>
            <a:ext cx="12209195" cy="685800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B7857C3-98D4-3A45-83D8-C4698A3EDC6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518" y="399457"/>
            <a:ext cx="5973763" cy="1232035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CHAPTER TITLE. DON’T CHANGE FONT TYPE, SIZE OR COLOUR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7447D6BE-81F5-0A41-AA01-F90189B3FB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18" y="1806373"/>
            <a:ext cx="5973763" cy="1626789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SUBTITLE. DON’T CHANGE FONT STYPE, SIZE OR COLOUR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833F0EC-BE39-904F-AA2E-3AD5C2FA1AD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54F50BAD-907D-8347-9D1B-4C6C860E4D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‹nº›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221231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5_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C4C60C7-F6FF-4D6D-AEB1-2417B13648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4256" t="29181" r="24649" b="23626"/>
          <a:stretch/>
        </p:blipFill>
        <p:spPr>
          <a:xfrm>
            <a:off x="21392" y="-16042"/>
            <a:ext cx="12149216" cy="6851443"/>
          </a:xfrm>
          <a:prstGeom prst="rect">
            <a:avLst/>
          </a:prstGeom>
        </p:spPr>
      </p:pic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DAC34891-93EE-B84E-931E-6633B1DEFC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09118" y="3585419"/>
            <a:ext cx="5973763" cy="1232035"/>
          </a:xfrm>
        </p:spPr>
        <p:txBody>
          <a:bodyPr>
            <a:normAutofit/>
          </a:bodyPr>
          <a:lstStyle>
            <a:lvl1pPr marL="0" indent="0" algn="ctr">
              <a:buNone/>
              <a:defRPr sz="20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THANK YOU FOR YOUR ATTENTION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D3C9EAE-38B6-A34C-B887-F1EBCB62629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465ED73C-9DFB-9648-8FA3-24E17E3E1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‹nº›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31287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6_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Picture 12" descr="Picture 12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1392" y="-16043"/>
            <a:ext cx="12149216" cy="6851444"/>
          </a:xfrm>
          <a:prstGeom prst="rect">
            <a:avLst/>
          </a:prstGeom>
          <a:ln w="12700">
            <a:miter lim="400000"/>
          </a:ln>
        </p:spPr>
      </p:pic>
      <p:sp>
        <p:nvSpPr>
          <p:cNvPr id="129" name="1. szövegtörzsszint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3109117" y="3585419"/>
            <a:ext cx="5973764" cy="1232036"/>
          </a:xfrm>
          <a:prstGeom prst="rect">
            <a:avLst/>
          </a:prstGeom>
        </p:spPr>
        <p:txBody>
          <a:bodyPr/>
          <a:lstStyle>
            <a:lvl1pPr algn="ctr">
              <a:defRPr sz="2000"/>
            </a:lvl1pPr>
            <a:lvl2pPr marL="647700" indent="-190500" algn="ctr">
              <a:defRPr sz="2000"/>
            </a:lvl2pPr>
            <a:lvl3pPr marL="1143000" indent="-228600" algn="ctr">
              <a:defRPr sz="2000"/>
            </a:lvl3pPr>
            <a:lvl4pPr marL="1625600" indent="-254000" algn="ctr">
              <a:defRPr sz="2000"/>
            </a:lvl4pPr>
            <a:lvl5pPr marL="2082800" indent="-254000" algn="ctr">
              <a:defRPr sz="2000"/>
            </a:lvl5pPr>
          </a:lstStyle>
          <a:p>
            <a:r>
              <a:t>THANK YOU FOR YOUR ATTENTION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130" name="Picture 14" descr="Picture 1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39995" y="6073254"/>
            <a:ext cx="4885153" cy="861053"/>
          </a:xfrm>
          <a:prstGeom prst="rect">
            <a:avLst/>
          </a:prstGeom>
          <a:ln w="12700">
            <a:miter lim="400000"/>
          </a:ln>
        </p:spPr>
      </p:pic>
      <p:sp>
        <p:nvSpPr>
          <p:cNvPr id="131" name="Diasorszám"/>
          <p:cNvSpPr txBox="1">
            <a:spLocks noGrp="1"/>
          </p:cNvSpPr>
          <p:nvPr>
            <p:ph type="sldNum" sz="quarter" idx="2"/>
          </p:nvPr>
        </p:nvSpPr>
        <p:spPr>
          <a:xfrm>
            <a:off x="293398" y="6394781"/>
            <a:ext cx="273657" cy="2692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77921279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A0D38A-D7C8-424C-AA4C-103CD470E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16AD8A-54F5-49E8-ADA6-F5B2632087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u-H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B7BC92-0569-41C7-AD28-87837B1EA9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hu-HU" dirty="0"/>
              <a:t>njniugzuv ouzgv7tugo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1BAE4-CE5B-40D4-8E64-FBBFD1ED2C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4428" y="6308222"/>
            <a:ext cx="4291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baseline="0">
                <a:solidFill>
                  <a:schemeClr val="bg1"/>
                </a:solidFill>
                <a:latin typeface="+mj-lt"/>
              </a:defRPr>
            </a:lvl1pPr>
          </a:lstStyle>
          <a:p>
            <a:fld id="{20B01981-BAC9-448B-9192-9C05FAA59408}" type="slidenum">
              <a:rPr lang="hu-HU" smtClean="0"/>
              <a:pPr/>
              <a:t>‹nº›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76274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90" r:id="rId3"/>
    <p:sldLayoutId id="2147483686" r:id="rId4"/>
    <p:sldLayoutId id="2147483688" r:id="rId5"/>
    <p:sldLayoutId id="2147483691" r:id="rId6"/>
    <p:sldLayoutId id="2147483687" r:id="rId7"/>
    <p:sldLayoutId id="2147483689" r:id="rId8"/>
    <p:sldLayoutId id="2147483666" r:id="rId9"/>
    <p:sldLayoutId id="2147483692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hyperlink" Target="https://docs.google.com/forms/d/13inFIelcB37QjI2P4qx78xoSp0WFEo0_OrviFwQMnnM/edit" TargetMode="External"/><Relationship Id="rId7" Type="http://schemas.openxmlformats.org/officeDocument/2006/relationships/image" Target="../media/image1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hyperlink" Target="https://github.com/HCEMM/" TargetMode="External"/><Relationship Id="rId9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98D348D1-4A9C-837B-2EC5-C089E0924C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86400" y="1588799"/>
            <a:ext cx="5702060" cy="2628671"/>
          </a:xfrm>
        </p:spPr>
        <p:txBody>
          <a:bodyPr>
            <a:normAutofit/>
          </a:bodyPr>
          <a:lstStyle/>
          <a:p>
            <a:r>
              <a:rPr lang="en-US" sz="2600" noProof="0" dirty="0"/>
              <a:t>Cutting-Edge Bioinformatics in a High-Performance Computing Environment</a:t>
            </a:r>
          </a:p>
          <a:p>
            <a:r>
              <a:rPr lang="en-US" sz="2600" b="0" i="1" noProof="0" dirty="0"/>
              <a:t>Results interpretation &amp; </a:t>
            </a:r>
          </a:p>
          <a:p>
            <a:r>
              <a:rPr lang="en-US" sz="2600" b="0" i="1" noProof="0" dirty="0"/>
              <a:t>What comes next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AAFFD82-476D-1120-CD4E-795F2BC8A7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73691" y="4417621"/>
            <a:ext cx="5938838" cy="1152753"/>
          </a:xfrm>
        </p:spPr>
        <p:txBody>
          <a:bodyPr>
            <a:normAutofit fontScale="85000" lnSpcReduction="20000"/>
          </a:bodyPr>
          <a:lstStyle/>
          <a:p>
            <a:r>
              <a:rPr lang="en-US" noProof="0" dirty="0"/>
              <a:t>István Szepesy-Nagy</a:t>
            </a:r>
          </a:p>
          <a:p>
            <a:r>
              <a:rPr lang="en-US" noProof="0" dirty="0"/>
              <a:t>João Carlos Sequeira</a:t>
            </a:r>
          </a:p>
          <a:p>
            <a:r>
              <a:rPr lang="en-US" noProof="0" dirty="0"/>
              <a:t>Maria Kavoosi</a:t>
            </a:r>
          </a:p>
          <a:p>
            <a:r>
              <a:rPr lang="en-US" noProof="0" dirty="0"/>
              <a:t>Scientific Computing Advanced Core Facility</a:t>
            </a:r>
          </a:p>
        </p:txBody>
      </p:sp>
      <p:pic>
        <p:nvPicPr>
          <p:cNvPr id="10" name="Kép 10">
            <a:extLst>
              <a:ext uri="{FF2B5EF4-FFF2-40B4-BE49-F238E27FC236}">
                <a16:creationId xmlns:a16="http://schemas.microsoft.com/office/drawing/2014/main" id="{9C51B3C2-FABD-04DE-D6B2-3238F26ED8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967" y="2811100"/>
            <a:ext cx="4291696" cy="1072924"/>
          </a:xfrm>
          <a:prstGeom prst="rect">
            <a:avLst/>
          </a:prstGeom>
        </p:spPr>
      </p:pic>
      <p:pic>
        <p:nvPicPr>
          <p:cNvPr id="11" name="Kép 11">
            <a:extLst>
              <a:ext uri="{FF2B5EF4-FFF2-40B4-BE49-F238E27FC236}">
                <a16:creationId xmlns:a16="http://schemas.microsoft.com/office/drawing/2014/main" id="{AA4F0EAC-24A1-B19D-FD6D-DA4E29030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7840" y="4189162"/>
            <a:ext cx="1881052" cy="1862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097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909CE024-4ADF-527E-B5EA-42F5B7B82B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0B01981-BAC9-448B-9192-9C05FAA59408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7" name="Google Shape;129;p24">
            <a:extLst>
              <a:ext uri="{FF2B5EF4-FFF2-40B4-BE49-F238E27FC236}">
                <a16:creationId xmlns:a16="http://schemas.microsoft.com/office/drawing/2014/main" id="{3DC8F9E3-9219-5422-D087-0796BCC8DFCE}"/>
              </a:ext>
            </a:extLst>
          </p:cNvPr>
          <p:cNvSpPr txBox="1">
            <a:spLocks/>
          </p:cNvSpPr>
          <p:nvPr/>
        </p:nvSpPr>
        <p:spPr>
          <a:xfrm>
            <a:off x="450518" y="399459"/>
            <a:ext cx="9987631" cy="64328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Results interpretation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2" name="AutoShape 2" descr="preview url image">
            <a:extLst>
              <a:ext uri="{FF2B5EF4-FFF2-40B4-BE49-F238E27FC236}">
                <a16:creationId xmlns:a16="http://schemas.microsoft.com/office/drawing/2014/main" id="{B9C4CD11-9756-1738-555C-97416093F49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PT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1E5AD44-2B1A-BEEF-FE0B-C12630927A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305" y="285007"/>
            <a:ext cx="5026177" cy="435072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79B679EF-05C2-525A-E609-5362521B8A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518" y="1816677"/>
            <a:ext cx="5303391" cy="4040305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B68A24A4-F6B8-5B36-8C33-CE140DE24ADB}"/>
              </a:ext>
            </a:extLst>
          </p:cNvPr>
          <p:cNvSpPr txBox="1"/>
          <p:nvPr/>
        </p:nvSpPr>
        <p:spPr>
          <a:xfrm>
            <a:off x="1478463" y="1157191"/>
            <a:ext cx="3335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 err="1"/>
              <a:t>Limma</a:t>
            </a:r>
            <a:r>
              <a:rPr lang="pt-PT" dirty="0"/>
              <a:t> </a:t>
            </a:r>
            <a:r>
              <a:rPr lang="pt-PT" dirty="0" err="1"/>
              <a:t>results</a:t>
            </a:r>
            <a:r>
              <a:rPr lang="pt-PT" dirty="0"/>
              <a:t> </a:t>
            </a:r>
            <a:r>
              <a:rPr lang="pt-PT" dirty="0" err="1"/>
              <a:t>aligned</a:t>
            </a:r>
            <a:r>
              <a:rPr lang="pt-PT" dirty="0"/>
              <a:t> </a:t>
            </a:r>
            <a:r>
              <a:rPr lang="pt-PT" dirty="0" err="1"/>
              <a:t>with</a:t>
            </a:r>
            <a:r>
              <a:rPr lang="pt-PT" dirty="0"/>
              <a:t> </a:t>
            </a:r>
            <a:r>
              <a:rPr lang="pt-PT" dirty="0" err="1"/>
              <a:t>paper</a:t>
            </a:r>
            <a:r>
              <a:rPr lang="pt-PT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84613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B4C5C-D340-5529-2845-4D4234B78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2" name="Picture 14" descr="What Is CI/CD and How Does It Work? | Black Duck">
            <a:extLst>
              <a:ext uri="{FF2B5EF4-FFF2-40B4-BE49-F238E27FC236}">
                <a16:creationId xmlns:a16="http://schemas.microsoft.com/office/drawing/2014/main" id="{78524B4E-0A1F-066C-1C23-D872F76438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7835" y="4692664"/>
            <a:ext cx="4038600" cy="201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E2B13B5B-DA72-FEF7-86A6-7675BD87F6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0B01981-BAC9-448B-9192-9C05FAA59408}" type="slidenum">
              <a:rPr lang="en-US" noProof="0" smtClean="0"/>
              <a:pPr/>
              <a:t>3</a:t>
            </a:fld>
            <a:endParaRPr lang="en-US" noProof="0" dirty="0"/>
          </a:p>
        </p:txBody>
      </p:sp>
      <p:sp>
        <p:nvSpPr>
          <p:cNvPr id="7" name="Google Shape;129;p24">
            <a:extLst>
              <a:ext uri="{FF2B5EF4-FFF2-40B4-BE49-F238E27FC236}">
                <a16:creationId xmlns:a16="http://schemas.microsoft.com/office/drawing/2014/main" id="{271ED0B3-BB9D-31F2-8E09-2D0CC3611880}"/>
              </a:ext>
            </a:extLst>
          </p:cNvPr>
          <p:cNvSpPr txBox="1">
            <a:spLocks/>
          </p:cNvSpPr>
          <p:nvPr/>
        </p:nvSpPr>
        <p:spPr>
          <a:xfrm>
            <a:off x="450518" y="399459"/>
            <a:ext cx="9987631" cy="64328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What comes next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2" name="AutoShape 2" descr="preview url image">
            <a:extLst>
              <a:ext uri="{FF2B5EF4-FFF2-40B4-BE49-F238E27FC236}">
                <a16:creationId xmlns:a16="http://schemas.microsoft.com/office/drawing/2014/main" id="{1E155BC5-D25F-7819-4E0B-38FF17686C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PT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459406B-141F-6F3E-DD17-C714D780F09E}"/>
              </a:ext>
            </a:extLst>
          </p:cNvPr>
          <p:cNvSpPr txBox="1"/>
          <p:nvPr/>
        </p:nvSpPr>
        <p:spPr>
          <a:xfrm>
            <a:off x="450518" y="1605671"/>
            <a:ext cx="8664680" cy="4093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r>
              <a:rPr lang="pt-PT" sz="2000" dirty="0">
                <a:hlinkClick r:id="rId3"/>
              </a:rPr>
              <a:t>Register</a:t>
            </a:r>
            <a:r>
              <a:rPr lang="pt-PT" sz="2000" dirty="0"/>
              <a:t> to </a:t>
            </a:r>
            <a:r>
              <a:rPr lang="pt-PT" sz="2000" dirty="0" err="1"/>
              <a:t>keep</a:t>
            </a:r>
            <a:r>
              <a:rPr lang="pt-PT" sz="2000" dirty="0"/>
              <a:t> </a:t>
            </a:r>
            <a:r>
              <a:rPr lang="pt-PT" sz="2000" dirty="0" err="1"/>
              <a:t>using</a:t>
            </a:r>
            <a:r>
              <a:rPr lang="pt-PT" sz="2000" dirty="0"/>
              <a:t> </a:t>
            </a:r>
            <a:r>
              <a:rPr lang="pt-PT" sz="2000" dirty="0" err="1"/>
              <a:t>Puli</a:t>
            </a:r>
            <a:r>
              <a:rPr lang="pt-PT" sz="2000" dirty="0"/>
              <a:t>.</a:t>
            </a:r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endParaRPr lang="pt-PT" sz="2000" dirty="0"/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endParaRPr lang="pt-PT" sz="2000" dirty="0"/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r>
              <a:rPr lang="pt-PT" sz="2000" dirty="0" err="1"/>
              <a:t>Join</a:t>
            </a:r>
            <a:r>
              <a:rPr lang="pt-PT" sz="2000" dirty="0"/>
              <a:t> </a:t>
            </a:r>
            <a:r>
              <a:rPr lang="pt-PT" sz="2000" dirty="0" err="1"/>
              <a:t>HCEMM’s</a:t>
            </a:r>
            <a:r>
              <a:rPr lang="pt-PT" sz="2000" dirty="0"/>
              <a:t> </a:t>
            </a:r>
            <a:r>
              <a:rPr lang="pt-PT" sz="2000" dirty="0" err="1"/>
              <a:t>bioinformatics</a:t>
            </a:r>
            <a:r>
              <a:rPr lang="pt-PT" sz="2000" dirty="0"/>
              <a:t> network </a:t>
            </a:r>
            <a:r>
              <a:rPr lang="pt-PT" sz="2000" dirty="0" err="1"/>
              <a:t>at</a:t>
            </a:r>
            <a:r>
              <a:rPr lang="pt-PT" sz="2000" dirty="0"/>
              <a:t> GitHub: </a:t>
            </a:r>
            <a:r>
              <a:rPr lang="pt-PT" sz="2000" dirty="0">
                <a:hlinkClick r:id="rId4"/>
              </a:rPr>
              <a:t>https://github.com/HCEMM/</a:t>
            </a:r>
            <a:endParaRPr lang="pt-PT" sz="2000" dirty="0"/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endParaRPr lang="pt-PT" sz="2000" dirty="0"/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endParaRPr lang="pt-PT" sz="2000" dirty="0"/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r>
              <a:rPr lang="pt-PT" sz="2000" dirty="0"/>
              <a:t>Future workshops</a:t>
            </a:r>
          </a:p>
          <a:p>
            <a:pPr marL="742950" lvl="1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r>
              <a:rPr lang="pt-PT" sz="2000" dirty="0" err="1"/>
              <a:t>Galaxy</a:t>
            </a:r>
            <a:r>
              <a:rPr lang="pt-PT" sz="2000" dirty="0"/>
              <a:t>: a </a:t>
            </a:r>
            <a:r>
              <a:rPr lang="pt-PT" sz="2000" dirty="0" err="1"/>
              <a:t>graphical</a:t>
            </a:r>
            <a:r>
              <a:rPr lang="pt-PT" sz="2000" dirty="0"/>
              <a:t> interface for </a:t>
            </a:r>
            <a:r>
              <a:rPr lang="pt-PT" sz="2000" dirty="0" err="1"/>
              <a:t>bioinformatics</a:t>
            </a:r>
            <a:endParaRPr lang="pt-PT" sz="2000" dirty="0"/>
          </a:p>
          <a:p>
            <a:pPr marL="742950" lvl="1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r>
              <a:rPr lang="pt-PT" sz="2000" dirty="0" err="1"/>
              <a:t>Reproducible</a:t>
            </a:r>
            <a:r>
              <a:rPr lang="pt-PT" sz="2000" dirty="0"/>
              <a:t> </a:t>
            </a:r>
            <a:r>
              <a:rPr lang="pt-PT" sz="2000" dirty="0" err="1"/>
              <a:t>and</a:t>
            </a:r>
            <a:r>
              <a:rPr lang="pt-PT" sz="2000" dirty="0"/>
              <a:t> </a:t>
            </a:r>
            <a:r>
              <a:rPr lang="pt-PT" sz="2000" dirty="0" err="1"/>
              <a:t>structured</a:t>
            </a:r>
            <a:r>
              <a:rPr lang="pt-PT" sz="2000" dirty="0"/>
              <a:t> </a:t>
            </a:r>
            <a:r>
              <a:rPr lang="pt-PT" sz="2000" dirty="0" err="1"/>
              <a:t>analysis</a:t>
            </a:r>
            <a:r>
              <a:rPr lang="pt-PT" sz="2000" dirty="0"/>
              <a:t> </a:t>
            </a:r>
            <a:r>
              <a:rPr lang="pt-PT" sz="2000" dirty="0" err="1"/>
              <a:t>with</a:t>
            </a:r>
            <a:r>
              <a:rPr lang="pt-PT" sz="2000" dirty="0"/>
              <a:t> </a:t>
            </a:r>
            <a:r>
              <a:rPr lang="pt-PT" sz="2000" dirty="0" err="1"/>
              <a:t>workflow</a:t>
            </a:r>
            <a:r>
              <a:rPr lang="pt-PT" sz="2000" dirty="0"/>
              <a:t> managers</a:t>
            </a:r>
          </a:p>
          <a:p>
            <a:pPr marL="742950" lvl="1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r>
              <a:rPr lang="pt-PT" sz="2000" dirty="0" err="1"/>
              <a:t>Continuous</a:t>
            </a:r>
            <a:r>
              <a:rPr lang="pt-PT" sz="2000" dirty="0"/>
              <a:t> </a:t>
            </a:r>
            <a:r>
              <a:rPr lang="pt-PT" sz="2000" dirty="0" err="1"/>
              <a:t>integration</a:t>
            </a:r>
            <a:r>
              <a:rPr lang="pt-PT" sz="2000" dirty="0"/>
              <a:t> </a:t>
            </a:r>
            <a:r>
              <a:rPr lang="pt-PT" sz="2000" dirty="0" err="1"/>
              <a:t>and</a:t>
            </a:r>
            <a:r>
              <a:rPr lang="pt-PT" sz="2000" dirty="0"/>
              <a:t> </a:t>
            </a:r>
            <a:r>
              <a:rPr lang="pt-PT" sz="2000" dirty="0" err="1"/>
              <a:t>deployment</a:t>
            </a:r>
            <a:r>
              <a:rPr lang="pt-PT" sz="2000" dirty="0"/>
              <a:t> in </a:t>
            </a:r>
            <a:r>
              <a:rPr lang="pt-PT" sz="2000" dirty="0" err="1"/>
              <a:t>biotools</a:t>
            </a:r>
            <a:r>
              <a:rPr lang="pt-PT" sz="2000" dirty="0"/>
              <a:t> </a:t>
            </a:r>
            <a:r>
              <a:rPr lang="pt-PT" sz="2000" dirty="0" err="1"/>
              <a:t>deveopment</a:t>
            </a:r>
            <a:endParaRPr lang="pt-PT" sz="2000" dirty="0"/>
          </a:p>
          <a:p>
            <a:pPr marL="742950" lvl="1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endParaRPr lang="pt-PT" sz="2000" dirty="0"/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endParaRPr lang="pt-PT" sz="2000" dirty="0"/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endParaRPr lang="pt-PT" sz="20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1B6A295-F583-FFDC-B593-27D854082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5282" y="828236"/>
            <a:ext cx="5181600" cy="161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ithub Logo - Free social media icons">
            <a:extLst>
              <a:ext uri="{FF2B5EF4-FFF2-40B4-BE49-F238E27FC236}">
                <a16:creationId xmlns:a16="http://schemas.microsoft.com/office/drawing/2014/main" id="{66E28CC5-5F82-0445-814F-F9BF669DC8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0061" y="2028275"/>
            <a:ext cx="1400725" cy="1400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About Galaxy | Genome Sciences Institute | The Huck Institutes (en-US)">
            <a:extLst>
              <a:ext uri="{FF2B5EF4-FFF2-40B4-BE49-F238E27FC236}">
                <a16:creationId xmlns:a16="http://schemas.microsoft.com/office/drawing/2014/main" id="{343C1BB5-10C6-582F-1D77-F3916AC6A8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7908" y="282947"/>
            <a:ext cx="4157948" cy="974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Snakemake · GitHub">
            <a:extLst>
              <a:ext uri="{FF2B5EF4-FFF2-40B4-BE49-F238E27FC236}">
                <a16:creationId xmlns:a16="http://schemas.microsoft.com/office/drawing/2014/main" id="{64313168-1887-61BC-F129-10CBF2C7EB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7045" y="3276600"/>
            <a:ext cx="1694932" cy="1694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EA583F8A-56AA-8BBF-486F-22B0AA9D37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38" t="28381" r="5180" b="23550"/>
          <a:stretch/>
        </p:blipFill>
        <p:spPr bwMode="auto">
          <a:xfrm>
            <a:off x="2498038" y="5082837"/>
            <a:ext cx="3597962" cy="940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9403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9" dur="500"/>
                                        <p:tgtEl>
                                          <p:spTgt spid="20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2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20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Número do Diapositivo 3">
            <a:extLst>
              <a:ext uri="{FF2B5EF4-FFF2-40B4-BE49-F238E27FC236}">
                <a16:creationId xmlns:a16="http://schemas.microsoft.com/office/drawing/2014/main" id="{AAF88E92-C673-4C8D-A504-5C01A074BE15}"/>
              </a:ext>
            </a:extLst>
          </p:cNvPr>
          <p:cNvSpPr txBox="1">
            <a:spLocks/>
          </p:cNvSpPr>
          <p:nvPr/>
        </p:nvSpPr>
        <p:spPr>
          <a:xfrm>
            <a:off x="209179" y="6394340"/>
            <a:ext cx="429126" cy="365125"/>
          </a:xfrm>
          <a:prstGeom prst="rect">
            <a:avLst/>
          </a:prstGeom>
        </p:spPr>
        <p:txBody>
          <a:bodyPr/>
          <a:lstStyle>
            <a:defPPr>
              <a:defRPr lang="hu-H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0B01981-BAC9-448B-9192-9C05FAA59408}" type="slidenum">
              <a:rPr lang="en-US" sz="1200" b="1" noProof="0" smtClean="0">
                <a:solidFill>
                  <a:schemeClr val="bg1"/>
                </a:solidFill>
                <a:latin typeface="+mj-lt"/>
              </a:rPr>
              <a:pPr/>
              <a:t>4</a:t>
            </a:fld>
            <a:endParaRPr lang="en-US" sz="1200" b="1" noProof="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A446DA4-BC32-08EA-5ADC-C65D845DA317}"/>
              </a:ext>
            </a:extLst>
          </p:cNvPr>
          <p:cNvSpPr txBox="1">
            <a:spLocks/>
          </p:cNvSpPr>
          <p:nvPr/>
        </p:nvSpPr>
        <p:spPr>
          <a:xfrm>
            <a:off x="3109118" y="3585419"/>
            <a:ext cx="5973763" cy="123203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Thank you for your attention!</a:t>
            </a:r>
          </a:p>
          <a:p>
            <a:endParaRPr lang="en-US" dirty="0"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Myriad Pro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6" id="{777394DB-89E5-5947-A806-3D77D4ACE7EC}" vid="{2E4A4D21-71AC-AA4E-9AF2-ACDB3D6CD4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Custom 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">
      <a:majorFont>
        <a:latin typeface="Myriad Pro"/>
        <a:ea typeface=""/>
        <a:cs typeface=""/>
      </a:majorFont>
      <a:minorFont>
        <a:latin typeface="Myriad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2128</TotalTime>
  <Words>89</Words>
  <Application>Microsoft Macintosh PowerPoint</Application>
  <PresentationFormat>Ecrã Panorâmico</PresentationFormat>
  <Paragraphs>25</Paragraphs>
  <Slides>4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4</vt:i4>
      </vt:variant>
    </vt:vector>
  </HeadingPairs>
  <TitlesOfParts>
    <vt:vector size="9" baseType="lpstr">
      <vt:lpstr>Arial</vt:lpstr>
      <vt:lpstr>Calibri</vt:lpstr>
      <vt:lpstr>Myriad Pro</vt:lpstr>
      <vt:lpstr>Verdana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João Carlos Sequeira da Costa</cp:lastModifiedBy>
  <cp:revision>269</cp:revision>
  <dcterms:created xsi:type="dcterms:W3CDTF">2021-03-07T20:33:45Z</dcterms:created>
  <dcterms:modified xsi:type="dcterms:W3CDTF">2026-02-26T22:58:33Z</dcterms:modified>
</cp:coreProperties>
</file>