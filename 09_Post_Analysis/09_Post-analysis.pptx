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81" r:id="rId2"/>
    <p:sldId id="301" r:id="rId3"/>
    <p:sldId id="297" r:id="rId4"/>
    <p:sldId id="303" r:id="rId5"/>
    <p:sldId id="302" r:id="rId6"/>
    <p:sldId id="304" r:id="rId7"/>
    <p:sldId id="299" r:id="rId8"/>
    <p:sldId id="298" r:id="rId9"/>
    <p:sldId id="266" r:id="rId10"/>
  </p:sldIdLst>
  <p:sldSz cx="12192000" cy="6858000"/>
  <p:notesSz cx="9144000" cy="6858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6" userDrawn="1">
          <p15:clr>
            <a:srgbClr val="A4A3A4"/>
          </p15:clr>
        </p15:guide>
        <p15:guide id="2" pos="354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A0CB"/>
    <a:srgbClr val="00AAF0"/>
    <a:srgbClr val="15BEF0"/>
    <a:srgbClr val="4CC3F4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52" autoAdjust="0"/>
    <p:restoredTop sz="76634" autoAdjust="0"/>
  </p:normalViewPr>
  <p:slideViewPr>
    <p:cSldViewPr snapToGrid="0">
      <p:cViewPr varScale="1">
        <p:scale>
          <a:sx n="85" d="100"/>
          <a:sy n="85" d="100"/>
        </p:scale>
        <p:origin x="1458" y="78"/>
      </p:cViewPr>
      <p:guideLst>
        <p:guide orient="horz" pos="1026"/>
        <p:guide pos="3545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132" d="100"/>
          <a:sy n="132" d="100"/>
        </p:scale>
        <p:origin x="2600" y="176"/>
      </p:cViewPr>
      <p:guideLst>
        <p:guide orient="horz" pos="2160"/>
        <p:guide pos="28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659C8-08AF-4C7B-95C0-6ED96EE71E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18364" y="6513910"/>
            <a:ext cx="518615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BC11C0-8907-429F-A3F4-8C35EF8784CB}" type="slidenum">
              <a:rPr lang="hu-HU" smtClean="0"/>
              <a:t>‹#›</a:t>
            </a:fld>
            <a:endParaRPr lang="hu-HU" dirty="0"/>
          </a:p>
        </p:txBody>
      </p:sp>
      <p:sp>
        <p:nvSpPr>
          <p:cNvPr id="7" name="Header Placeholder 6">
            <a:extLst>
              <a:ext uri="{FF2B5EF4-FFF2-40B4-BE49-F238E27FC236}">
                <a16:creationId xmlns:a16="http://schemas.microsoft.com/office/drawing/2014/main" id="{5AC5C426-58DE-40B2-9DBA-B20D2BE138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CF4D2BF-EA35-46ED-968D-E2560245FE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DE400B-5F95-4EE3-9D17-5032615B1C24}" type="datetimeFigureOut">
              <a:rPr lang="hu-HU" smtClean="0"/>
              <a:t>2026. 02. 27.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5193766"/>
      </p:ext>
    </p:extLst>
  </p:cSld>
  <p:clrMap bg1="dk1" tx1="lt1" bg2="dk2" tx2="lt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C41BF-2966-492C-BF11-EDF0CF116384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6CAE-03F7-4637-AB83-737E9CC5D86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968128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44CA9-4163-4FB5-B101-0BC651011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F09AA-EF3A-481F-E9FE-DEBC7D03AD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273653-9571-A951-F41B-184C85FF46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say:</a:t>
            </a:r>
          </a:p>
          <a:p>
            <a:r>
              <a:rPr lang="en-GB" dirty="0"/>
              <a:t>Glucocorticoids are anti-inflammatory steroid hormones used to treat asthma. They work by entering airway smooth muscle cells and changing gene expression. Our RNA-</a:t>
            </a:r>
            <a:r>
              <a:rPr lang="en-GB" dirty="0" err="1"/>
              <a:t>seq</a:t>
            </a:r>
            <a:r>
              <a:rPr lang="en-GB" dirty="0"/>
              <a:t> analysis shows how dexamethasone reprograms these cells at the transcriptional level, inducing anti-inflammatory genes like CRISPLD2.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10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say:</a:t>
            </a:r>
          </a:p>
          <a:p>
            <a:r>
              <a:rPr lang="en-GB" dirty="0"/>
              <a:t>Glucocorticoids are anti-inflammatory steroid hormones used to treat asthma. They work by entering airway smooth muscle cells and changing gene expression. Our RNA-</a:t>
            </a:r>
            <a:r>
              <a:rPr lang="en-GB" dirty="0" err="1"/>
              <a:t>seq</a:t>
            </a:r>
            <a:r>
              <a:rPr lang="en-GB" dirty="0"/>
              <a:t> analysis shows how dexamethasone reprograms these cells at the transcriptional level, inducing anti-inflammatory genes like CRISPLD2.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68162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1BB26-E870-6E69-030A-A56A3C246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8650C-A354-1168-71B2-DC6012617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694F88-84A3-E9AC-F6E3-8262F6D737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say:</a:t>
            </a:r>
          </a:p>
          <a:p>
            <a:r>
              <a:rPr lang="en-GB" dirty="0"/>
              <a:t>Glucocorticoids are anti-inflammatory steroid hormones used to treat asthma. They work by entering airway smooth muscle cells and changing gene expression. Our RNA-</a:t>
            </a:r>
            <a:r>
              <a:rPr lang="en-GB" dirty="0" err="1"/>
              <a:t>seq</a:t>
            </a:r>
            <a:r>
              <a:rPr lang="en-GB" dirty="0"/>
              <a:t> analysis shows how dexamethasone reprograms these cells at the transcriptional level, inducing anti-inflammatory genes like CRISPLD2.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6758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195B5-77E9-2F2C-79D9-6913A022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A541A5-666F-0FB9-2E42-E41376845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4177D-B856-5C5F-578C-DF2005528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say:</a:t>
            </a:r>
          </a:p>
          <a:p>
            <a:r>
              <a:rPr lang="en-GB" dirty="0"/>
              <a:t>Glucocorticoids are anti-inflammatory steroid hormones used to treat asthma. They work by entering airway smooth muscle cells and changing gene expression. Our RNA-</a:t>
            </a:r>
            <a:r>
              <a:rPr lang="en-GB" dirty="0" err="1"/>
              <a:t>seq</a:t>
            </a:r>
            <a:r>
              <a:rPr lang="en-GB" dirty="0"/>
              <a:t> analysis shows how dexamethasone reprograms these cells at the transcriptional level, inducing anti-inflammatory genes like CRISPLD2.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49786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95116-1A0F-99EE-BFEB-7997C058F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A9BC1-165F-B113-93F9-2AD73F71D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33EA8-5F7F-E3BC-C4D4-BAD0938E4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say:</a:t>
            </a:r>
          </a:p>
          <a:p>
            <a:r>
              <a:rPr lang="en-GB" dirty="0"/>
              <a:t>Glucocorticoids are anti-inflammatory steroid hormones used to treat asthma. They work by entering airway smooth muscle cells and changing gene expression. Our RNA-</a:t>
            </a:r>
            <a:r>
              <a:rPr lang="en-GB" dirty="0" err="1"/>
              <a:t>seq</a:t>
            </a:r>
            <a:r>
              <a:rPr lang="en-GB" dirty="0"/>
              <a:t> analysis shows how dexamethasone reprograms these cells at the transcriptional level, inducing anti-inflammatory genes like CRISPLD2.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1875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B41C1-69C2-459A-BC13-43DAB41CC8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227" t="33815" r="27274" b="33331"/>
          <a:stretch/>
        </p:blipFill>
        <p:spPr>
          <a:xfrm>
            <a:off x="-17195" y="0"/>
            <a:ext cx="12209195" cy="6858000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E59E6A2-C40F-4E4C-B6FB-9BC58AAD0739}"/>
              </a:ext>
            </a:extLst>
          </p:cNvPr>
          <p:cNvCxnSpPr>
            <a:cxnSpLocks/>
          </p:cNvCxnSpPr>
          <p:nvPr userDrawn="1"/>
        </p:nvCxnSpPr>
        <p:spPr>
          <a:xfrm>
            <a:off x="5146463" y="1719618"/>
            <a:ext cx="0" cy="5138382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2FA7B8-6484-754F-B56D-227047F07D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86400" y="1719263"/>
            <a:ext cx="5938838" cy="2073091"/>
          </a:xfrm>
        </p:spPr>
        <p:txBody>
          <a:bodyPr/>
          <a:lstStyle>
            <a:lvl1pPr marL="0" indent="0">
              <a:buNone/>
              <a:defRPr sz="2400" b="1" i="0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1">
                <a:solidFill>
                  <a:srgbClr val="00AAF0"/>
                </a:solidFill>
                <a:latin typeface="+mj-lt"/>
              </a:defRPr>
            </a:lvl2pPr>
            <a:lvl3pPr>
              <a:defRPr b="1">
                <a:solidFill>
                  <a:srgbClr val="00AAF0"/>
                </a:solidFill>
                <a:latin typeface="+mj-lt"/>
              </a:defRPr>
            </a:lvl3pPr>
            <a:lvl4pPr>
              <a:defRPr b="1">
                <a:solidFill>
                  <a:srgbClr val="00AAF0"/>
                </a:solidFill>
                <a:latin typeface="+mj-lt"/>
              </a:defRPr>
            </a:lvl4pPr>
            <a:lvl5pPr>
              <a:defRPr b="1">
                <a:solidFill>
                  <a:srgbClr val="00AAF0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HERE TO INSERT YOUR TITLE. DON’T CHANGE FONT TYPE, SIZE OR COLOUR. USE ONLY CAPITAL LETTERS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4DC9044-8B3E-244C-9490-CC5DCA40F4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0" y="3933074"/>
            <a:ext cx="5938838" cy="20730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1">
                <a:solidFill>
                  <a:srgbClr val="00AAF0"/>
                </a:solidFill>
                <a:latin typeface="+mj-lt"/>
              </a:defRPr>
            </a:lvl2pPr>
            <a:lvl3pPr>
              <a:defRPr b="1">
                <a:solidFill>
                  <a:srgbClr val="00AAF0"/>
                </a:solidFill>
                <a:latin typeface="+mj-lt"/>
              </a:defRPr>
            </a:lvl3pPr>
            <a:lvl4pPr>
              <a:defRPr b="1">
                <a:solidFill>
                  <a:srgbClr val="00AAF0"/>
                </a:solidFill>
                <a:latin typeface="+mj-lt"/>
              </a:defRPr>
            </a:lvl4pPr>
            <a:lvl5pPr>
              <a:defRPr b="1">
                <a:solidFill>
                  <a:srgbClr val="00AAF0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HERE TO INSERT YOUR SUBTITLE. DON’T CHANGE FONT TYPE, SIZE OR COLOUR. USE ONLY CAPITAL LETTERS. THIS BOX CAN BE REPOSITIONED AFTER THE TITLE HAS BEEN TYPED IN.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566D1B-A7A6-0049-B54A-7EF500F3C5D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5609" y="1621551"/>
            <a:ext cx="3864029" cy="9982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27359AA-0A80-9672-4FD6-E1A8CA82870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60203" y="6303365"/>
            <a:ext cx="4072530" cy="3533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972AD7D-D400-1994-7801-42815BC6330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5834" y="6320098"/>
            <a:ext cx="1608487" cy="33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46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CONTENT_WHITE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7513DF9-8A1A-4A0A-8ED4-95037BF1B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4114" b="60234"/>
          <a:stretch/>
        </p:blipFill>
        <p:spPr>
          <a:xfrm>
            <a:off x="-3546" y="-19314"/>
            <a:ext cx="12195546" cy="687731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C4F6F1-583A-D542-955E-38EC9E30F28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65819" y="-1"/>
            <a:ext cx="5126181" cy="592974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hu-HU" dirty="0" err="1"/>
              <a:t>Insert</a:t>
            </a:r>
            <a:r>
              <a:rPr lang="hu-HU" dirty="0"/>
              <a:t> </a:t>
            </a:r>
            <a:r>
              <a:rPr lang="hu-HU" dirty="0" err="1"/>
              <a:t>picture</a:t>
            </a:r>
            <a:r>
              <a:rPr lang="hu-HU" dirty="0"/>
              <a:t> here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clicking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icon</a:t>
            </a:r>
            <a:r>
              <a:rPr lang="hu-HU" dirty="0"/>
              <a:t> in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middle</a:t>
            </a:r>
            <a:endParaRPr lang="hu-HU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98635-3212-0D46-82C5-7D0B1B2CE5BF}"/>
              </a:ext>
            </a:extLst>
          </p:cNvPr>
          <p:cNvCxnSpPr>
            <a:cxnSpLocks/>
          </p:cNvCxnSpPr>
          <p:nvPr userDrawn="1"/>
        </p:nvCxnSpPr>
        <p:spPr>
          <a:xfrm>
            <a:off x="6400800" y="2060575"/>
            <a:ext cx="0" cy="47974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28119D6-EDFC-7744-81CC-932C87A09A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798DD75-DE33-0B41-B682-18DE6E9D29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19730F1-BCF9-5C43-984E-AA46329106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5694363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93058AA-CEDF-EA41-A58C-E422E63F68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179E2A5-D647-4281-B338-FF05ADEFE3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21088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_WHITE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63F390D-3F4B-48E5-BBE0-BE88BB7427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656" t="32937" r="26232" b="33726"/>
          <a:stretch/>
        </p:blipFill>
        <p:spPr>
          <a:xfrm>
            <a:off x="-3548" y="-39095"/>
            <a:ext cx="12195548" cy="6910742"/>
          </a:xfrm>
          <a:prstGeom prst="rect">
            <a:avLst/>
          </a:prstGeom>
        </p:spPr>
      </p:pic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753032CB-6C47-B940-9EAF-51FBAF9EB6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43C965CC-DF89-2749-B323-063B9A91C3F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A724CD13-4229-DD41-BE36-29119CF32B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10964712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151321F-B004-A64D-B518-5A901CFAB3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A5893AB0-550D-2940-990E-016DEE0E29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87105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CONTENT_BLACK_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A44F27A0-3814-BB41-957D-3CC3CEFCBF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4114" b="60234"/>
          <a:stretch/>
        </p:blipFill>
        <p:spPr>
          <a:xfrm>
            <a:off x="-3546" y="-19314"/>
            <a:ext cx="12170608" cy="687731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C4F6F1-583A-D542-955E-38EC9E30F28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65819" y="-1"/>
            <a:ext cx="5126181" cy="592974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hu-HU" dirty="0" err="1"/>
              <a:t>Insert</a:t>
            </a:r>
            <a:r>
              <a:rPr lang="hu-HU" dirty="0"/>
              <a:t> </a:t>
            </a:r>
            <a:r>
              <a:rPr lang="hu-HU" dirty="0" err="1"/>
              <a:t>picture</a:t>
            </a:r>
            <a:r>
              <a:rPr lang="hu-HU" dirty="0"/>
              <a:t> here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clicking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icon</a:t>
            </a:r>
            <a:r>
              <a:rPr lang="hu-HU" dirty="0"/>
              <a:t> in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middle</a:t>
            </a:r>
            <a:endParaRPr lang="hu-HU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98635-3212-0D46-82C5-7D0B1B2CE5BF}"/>
              </a:ext>
            </a:extLst>
          </p:cNvPr>
          <p:cNvCxnSpPr>
            <a:cxnSpLocks/>
          </p:cNvCxnSpPr>
          <p:nvPr userDrawn="1"/>
        </p:nvCxnSpPr>
        <p:spPr>
          <a:xfrm>
            <a:off x="6400800" y="2060575"/>
            <a:ext cx="0" cy="47974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28119D6-EDFC-7744-81CC-932C87A09A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798DD75-DE33-0B41-B682-18DE6E9D29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19730F1-BCF9-5C43-984E-AA46329106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5694363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CC5BF0-5767-6B4D-A4D1-8E2D929B615E}"/>
              </a:ext>
            </a:extLst>
          </p:cNvPr>
          <p:cNvCxnSpPr>
            <a:cxnSpLocks/>
          </p:cNvCxnSpPr>
          <p:nvPr userDrawn="1"/>
        </p:nvCxnSpPr>
        <p:spPr>
          <a:xfrm>
            <a:off x="6553200" y="2212975"/>
            <a:ext cx="0" cy="47974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A5FB134E-DAFC-9C4A-8235-429A7AFE10B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36934A0E-F115-204C-BDAA-486E556B1C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551815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CONTENT_BLACK_PLAIN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C37B86DC-0B17-9742-8FFA-A916F91FBE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9A3FC41C-A6CE-5549-937F-7177850104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005B727-0A95-5B4C-987D-11BA1C3D81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10964712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3CA013D-F100-7A49-A54E-95650F8441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4E1A571E-ED8F-8040-8C25-571CEE4C56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14578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_BLACK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4ADBC8-8766-4DF2-8566-8F6A651B58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227" t="33815" r="27274" b="33331"/>
          <a:stretch/>
        </p:blipFill>
        <p:spPr>
          <a:xfrm>
            <a:off x="-17195" y="13647"/>
            <a:ext cx="12209195" cy="68580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C37B86DC-0B17-9742-8FFA-A916F91FBE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9A3FC41C-A6CE-5549-937F-7177850104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005B727-0A95-5B4C-987D-11BA1C3D81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10964712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84A4D71-829C-B34A-B072-26C084A594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194FDD80-13D5-6D42-BD04-530641C1F1E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1346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DIVIDER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63F390D-3F4B-48E5-BBE0-BE88BB7427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656" t="32937" r="26232" b="33726"/>
          <a:stretch/>
        </p:blipFill>
        <p:spPr>
          <a:xfrm>
            <a:off x="-3548" y="-49121"/>
            <a:ext cx="12195548" cy="6910742"/>
          </a:xfrm>
          <a:prstGeom prst="rect">
            <a:avLst/>
          </a:prstGeom>
        </p:spPr>
      </p:pic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753032CB-6C47-B940-9EAF-51FBAF9EB6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518" y="399457"/>
            <a:ext cx="5973763" cy="1232035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CHAPTER TITLE. DON’T CHANGE FONT TYPE, SIZE OR COLOUR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43C965CC-DF89-2749-B323-063B9A91C3F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18" y="1806373"/>
            <a:ext cx="5973763" cy="1626789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9FA14D5-B4D8-A649-BA67-CBA6E2F22C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5A5B1E30-37C8-7F44-95F3-23710955CDB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86325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_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4ADBC8-8766-4DF2-8566-8F6A651B58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227" t="33815" r="27274" b="33331"/>
          <a:stretch/>
        </p:blipFill>
        <p:spPr>
          <a:xfrm>
            <a:off x="-17195" y="13647"/>
            <a:ext cx="12209195" cy="68580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B7857C3-98D4-3A45-83D8-C4698A3EDC6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518" y="399457"/>
            <a:ext cx="5973763" cy="1232035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CHAPTER TITLE. DON’T CHANGE FONT TYPE, SIZE OR COLOUR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7447D6BE-81F5-0A41-AA01-F90189B3FB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18" y="1806373"/>
            <a:ext cx="5973763" cy="1626789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833F0EC-BE39-904F-AA2E-3AD5C2FA1AD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54F50BAD-907D-8347-9D1B-4C6C860E4D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21231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_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C4C60C7-F6FF-4D6D-AEB1-2417B13648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256" t="29181" r="24649" b="23626"/>
          <a:stretch/>
        </p:blipFill>
        <p:spPr>
          <a:xfrm>
            <a:off x="21392" y="-16042"/>
            <a:ext cx="12149216" cy="6851443"/>
          </a:xfrm>
          <a:prstGeom prst="rect">
            <a:avLst/>
          </a:prstGeom>
        </p:spPr>
      </p:pic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DAC34891-93EE-B84E-931E-6633B1DEFC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09118" y="3585419"/>
            <a:ext cx="5973763" cy="1232035"/>
          </a:xfrm>
        </p:spPr>
        <p:txBody>
          <a:bodyPr>
            <a:normAutofit/>
          </a:bodyPr>
          <a:lstStyle>
            <a:lvl1pPr marL="0" indent="0" algn="ctr">
              <a:buNone/>
              <a:defRPr sz="20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THANK YOU FOR YOUR ATTENTION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D3C9EAE-38B6-A34C-B887-F1EBCB62629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465ED73C-9DFB-9648-8FA3-24E17E3E1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31287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6_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Picture 12" descr="Picture 12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1392" y="-16043"/>
            <a:ext cx="12149216" cy="6851444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1. szövegtörzsszint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3109117" y="3585419"/>
            <a:ext cx="5973764" cy="1232036"/>
          </a:xfrm>
          <a:prstGeom prst="rect">
            <a:avLst/>
          </a:prstGeom>
        </p:spPr>
        <p:txBody>
          <a:bodyPr/>
          <a:lstStyle>
            <a:lvl1pPr algn="ctr">
              <a:defRPr sz="2000"/>
            </a:lvl1pPr>
            <a:lvl2pPr marL="647700" indent="-190500" algn="ctr">
              <a:defRPr sz="2000"/>
            </a:lvl2pPr>
            <a:lvl3pPr marL="1143000" indent="-228600" algn="ctr">
              <a:defRPr sz="2000"/>
            </a:lvl3pPr>
            <a:lvl4pPr marL="1625600" indent="-254000" algn="ctr">
              <a:defRPr sz="2000"/>
            </a:lvl4pPr>
            <a:lvl5pPr marL="2082800" indent="-254000" algn="ctr">
              <a:defRPr sz="2000"/>
            </a:lvl5pPr>
          </a:lstStyle>
          <a:p>
            <a:r>
              <a:t>THANK YOU FOR YOUR ATTENTION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30" name="Picture 14" descr="Picture 1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9995" y="6073254"/>
            <a:ext cx="4885153" cy="861053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Diasorszám"/>
          <p:cNvSpPr txBox="1">
            <a:spLocks noGrp="1"/>
          </p:cNvSpPr>
          <p:nvPr>
            <p:ph type="sldNum" sz="quarter" idx="2"/>
          </p:nvPr>
        </p:nvSpPr>
        <p:spPr>
          <a:xfrm>
            <a:off x="293398" y="6394781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792127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A0D38A-D7C8-424C-AA4C-103CD470E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6AD8A-54F5-49E8-ADA6-F5B263208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u-H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7BC92-0569-41C7-AD28-87837B1EA9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u-HU" dirty="0"/>
              <a:t>njniugzuv ouzgv7tugo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1BAE4-CE5B-40D4-8E64-FBBFD1ED2C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4428" y="6308222"/>
            <a:ext cx="4291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baseline="0">
                <a:solidFill>
                  <a:schemeClr val="bg1"/>
                </a:solidFill>
                <a:latin typeface="+mj-lt"/>
              </a:defRPr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76274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90" r:id="rId3"/>
    <p:sldLayoutId id="2147483686" r:id="rId4"/>
    <p:sldLayoutId id="2147483688" r:id="rId5"/>
    <p:sldLayoutId id="2147483691" r:id="rId6"/>
    <p:sldLayoutId id="2147483687" r:id="rId7"/>
    <p:sldLayoutId id="2147483689" r:id="rId8"/>
    <p:sldLayoutId id="2147483666" r:id="rId9"/>
    <p:sldLayoutId id="2147483692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hyperlink" Target="https://docs.google.com/forms/d/13inFIelcB37QjI2P4qx78xoSp0WFEo0_OrviFwQMnnM/edit" TargetMode="External"/><Relationship Id="rId7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hyperlink" Target="https://github.com/HCEMM/" TargetMode="External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98D348D1-4A9C-837B-2EC5-C089E0924C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400" y="1588799"/>
            <a:ext cx="5702060" cy="2628671"/>
          </a:xfrm>
        </p:spPr>
        <p:txBody>
          <a:bodyPr>
            <a:normAutofit/>
          </a:bodyPr>
          <a:lstStyle/>
          <a:p>
            <a:r>
              <a:rPr lang="en-US" sz="2600" noProof="0" dirty="0"/>
              <a:t>Cutting-Edge Bioinformatics in a High-Performance Computing Environment</a:t>
            </a:r>
          </a:p>
          <a:p>
            <a:r>
              <a:rPr lang="en-US" sz="2600" b="0" i="1" noProof="0" dirty="0"/>
              <a:t>Results interpretation &amp; </a:t>
            </a:r>
          </a:p>
          <a:p>
            <a:r>
              <a:rPr lang="en-US" sz="2600" b="0" i="1" noProof="0" dirty="0"/>
              <a:t>What comes next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AAFFD82-476D-1120-CD4E-795F2BC8A7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73691" y="4417621"/>
            <a:ext cx="5938838" cy="1152753"/>
          </a:xfrm>
        </p:spPr>
        <p:txBody>
          <a:bodyPr>
            <a:normAutofit fontScale="85000" lnSpcReduction="20000"/>
          </a:bodyPr>
          <a:lstStyle/>
          <a:p>
            <a:r>
              <a:rPr lang="en-US" noProof="0" dirty="0"/>
              <a:t>István Szepesy-Nagy</a:t>
            </a:r>
          </a:p>
          <a:p>
            <a:r>
              <a:rPr lang="en-US" noProof="0" dirty="0"/>
              <a:t>João Carlos Sequeira</a:t>
            </a:r>
          </a:p>
          <a:p>
            <a:r>
              <a:rPr lang="en-US" noProof="0" dirty="0"/>
              <a:t>Maria Kavoosi</a:t>
            </a:r>
          </a:p>
          <a:p>
            <a:r>
              <a:rPr lang="en-US" noProof="0" dirty="0"/>
              <a:t>Scientific Computing Advanced Core Facility</a:t>
            </a:r>
          </a:p>
        </p:txBody>
      </p:sp>
      <p:pic>
        <p:nvPicPr>
          <p:cNvPr id="10" name="Kép 10">
            <a:extLst>
              <a:ext uri="{FF2B5EF4-FFF2-40B4-BE49-F238E27FC236}">
                <a16:creationId xmlns:a16="http://schemas.microsoft.com/office/drawing/2014/main" id="{9C51B3C2-FABD-04DE-D6B2-3238F26ED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67" y="2811100"/>
            <a:ext cx="4291696" cy="1072924"/>
          </a:xfrm>
          <a:prstGeom prst="rect">
            <a:avLst/>
          </a:prstGeom>
        </p:spPr>
      </p:pic>
      <p:pic>
        <p:nvPicPr>
          <p:cNvPr id="11" name="Kép 11">
            <a:extLst>
              <a:ext uri="{FF2B5EF4-FFF2-40B4-BE49-F238E27FC236}">
                <a16:creationId xmlns:a16="http://schemas.microsoft.com/office/drawing/2014/main" id="{AA4F0EAC-24A1-B19D-FD6D-DA4E29030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7840" y="4189162"/>
            <a:ext cx="1881052" cy="1862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097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0DD87-614E-FCF1-B309-6DD912B5D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2CBF77E-85AA-EE81-85C5-0462E0C60D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63C2912F-85D9-B51B-216E-30D38899C479}"/>
              </a:ext>
            </a:extLst>
          </p:cNvPr>
          <p:cNvSpPr txBox="1">
            <a:spLocks/>
          </p:cNvSpPr>
          <p:nvPr/>
        </p:nvSpPr>
        <p:spPr>
          <a:xfrm>
            <a:off x="243484" y="287140"/>
            <a:ext cx="10841459" cy="9548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Global Differential Expression</a:t>
            </a:r>
            <a:r>
              <a:rPr kumimoji="0" lang="hu-HU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(DE)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Response to Dexamethasone</a:t>
            </a: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Results interpretation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C98591A5-667D-0B93-0F9E-8361ED4353A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08ADF9-D724-460A-901B-6E55DDC4FDC0}"/>
              </a:ext>
            </a:extLst>
          </p:cNvPr>
          <p:cNvSpPr txBox="1"/>
          <p:nvPr/>
        </p:nvSpPr>
        <p:spPr>
          <a:xfrm>
            <a:off x="352490" y="1414732"/>
            <a:ext cx="5438709" cy="2916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GB" b="1" dirty="0"/>
              <a:t>Glucocorticoid</a:t>
            </a:r>
            <a:r>
              <a:rPr lang="hu-HU" b="1" dirty="0"/>
              <a:t> (</a:t>
            </a:r>
            <a:r>
              <a:rPr lang="hu-HU" b="1" i="1" dirty="0" err="1"/>
              <a:t>steroid</a:t>
            </a:r>
            <a:r>
              <a:rPr lang="hu-HU" b="1" i="1" dirty="0"/>
              <a:t> </a:t>
            </a:r>
            <a:r>
              <a:rPr lang="hu-HU" b="1" i="1" dirty="0" err="1"/>
              <a:t>hormones</a:t>
            </a:r>
            <a:r>
              <a:rPr lang="hu-HU" b="1" dirty="0"/>
              <a:t>)</a:t>
            </a:r>
            <a:r>
              <a:rPr lang="en-GB" b="1" dirty="0"/>
              <a:t> Treatment Drives Strong Transcriptomic Changes</a:t>
            </a:r>
            <a:endParaRPr lang="hu-HU" b="1" dirty="0"/>
          </a:p>
          <a:p>
            <a:pPr>
              <a:lnSpc>
                <a:spcPct val="114000"/>
              </a:lnSpc>
            </a:pPr>
            <a:endParaRPr lang="hu-HU" b="1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/>
              <a:t>S</a:t>
            </a:r>
            <a:r>
              <a:rPr lang="en-GB" dirty="0" err="1"/>
              <a:t>eparation</a:t>
            </a:r>
            <a:r>
              <a:rPr lang="en-GB" dirty="0"/>
              <a:t> between </a:t>
            </a:r>
            <a:r>
              <a:rPr lang="en-GB" b="1" dirty="0"/>
              <a:t>Control</a:t>
            </a:r>
            <a:r>
              <a:rPr lang="en-GB" dirty="0"/>
              <a:t> and </a:t>
            </a:r>
            <a:r>
              <a:rPr lang="en-GB" b="1" dirty="0"/>
              <a:t>Dex</a:t>
            </a:r>
            <a:r>
              <a:rPr lang="hu-HU" b="1" dirty="0" err="1"/>
              <a:t>amethasone</a:t>
            </a:r>
            <a:r>
              <a:rPr lang="en-GB" b="1" dirty="0"/>
              <a:t>-treated</a:t>
            </a:r>
            <a:r>
              <a:rPr lang="en-GB" dirty="0"/>
              <a:t> samples (PCA result)</a:t>
            </a:r>
            <a:endParaRPr lang="hu-HU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 err="1"/>
              <a:t>Heatmap</a:t>
            </a:r>
            <a:r>
              <a:rPr lang="hu-HU" dirty="0"/>
              <a:t> of top 50 DE </a:t>
            </a:r>
            <a:r>
              <a:rPr lang="hu-HU" dirty="0" err="1"/>
              <a:t>genes</a:t>
            </a:r>
            <a:r>
              <a:rPr lang="hu-HU" dirty="0"/>
              <a:t> shows s</a:t>
            </a:r>
            <a:r>
              <a:rPr lang="en-GB" dirty="0" err="1"/>
              <a:t>trong</a:t>
            </a:r>
            <a:r>
              <a:rPr lang="en-GB" dirty="0"/>
              <a:t> clustering by treatment group</a:t>
            </a:r>
            <a:endParaRPr lang="hu-HU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 err="1"/>
              <a:t>Large</a:t>
            </a:r>
            <a:r>
              <a:rPr lang="hu-HU" dirty="0"/>
              <a:t> </a:t>
            </a:r>
            <a:r>
              <a:rPr lang="hu-HU" dirty="0" err="1"/>
              <a:t>number</a:t>
            </a:r>
            <a:r>
              <a:rPr lang="hu-HU" dirty="0"/>
              <a:t> of </a:t>
            </a:r>
            <a:r>
              <a:rPr lang="hu-HU" dirty="0" err="1"/>
              <a:t>significantly</a:t>
            </a:r>
            <a:r>
              <a:rPr lang="hu-HU" dirty="0"/>
              <a:t> </a:t>
            </a:r>
            <a:r>
              <a:rPr lang="hu-HU" dirty="0" err="1"/>
              <a:t>changed</a:t>
            </a:r>
            <a:r>
              <a:rPr lang="hu-HU" dirty="0"/>
              <a:t> (</a:t>
            </a:r>
            <a:r>
              <a:rPr lang="hu-HU" dirty="0" err="1"/>
              <a:t>adj.p</a:t>
            </a:r>
            <a:r>
              <a:rPr lang="hu-HU" dirty="0"/>
              <a:t> &lt; 0.05) </a:t>
            </a:r>
            <a:r>
              <a:rPr lang="hu-HU" dirty="0" err="1"/>
              <a:t>genes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F5B7BF-7B46-7A15-9FBA-D9A3D24FA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0328" y="764584"/>
            <a:ext cx="3582533" cy="3566587"/>
          </a:xfrm>
          <a:prstGeom prst="rect">
            <a:avLst/>
          </a:prstGeom>
          <a:ln>
            <a:solidFill>
              <a:srgbClr val="00AAF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B0F4D4-CF47-841E-6A9B-B3ED1A09D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038" y="4101190"/>
            <a:ext cx="2684156" cy="2684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4AD592-D9A4-4B62-24B4-E1C27D75325D}"/>
              </a:ext>
            </a:extLst>
          </p:cNvPr>
          <p:cNvSpPr txBox="1"/>
          <p:nvPr/>
        </p:nvSpPr>
        <p:spPr>
          <a:xfrm>
            <a:off x="7970328" y="6262126"/>
            <a:ext cx="61185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400" b="0" i="0" dirty="0" err="1">
                <a:solidFill>
                  <a:srgbClr val="5B616B"/>
                </a:solidFill>
                <a:effectLst/>
                <a:latin typeface="BlinkMacSystemFont"/>
              </a:rPr>
              <a:t>Himes</a:t>
            </a:r>
            <a:r>
              <a:rPr lang="hu-HU" sz="1400" b="0" i="0" dirty="0">
                <a:solidFill>
                  <a:srgbClr val="5B616B"/>
                </a:solidFill>
                <a:effectLst/>
                <a:latin typeface="BlinkMacSystemFont"/>
              </a:rPr>
              <a:t> </a:t>
            </a:r>
            <a:r>
              <a:rPr lang="hu-HU" sz="1400" b="0" i="0" dirty="0" err="1">
                <a:solidFill>
                  <a:srgbClr val="5B616B"/>
                </a:solidFill>
                <a:effectLst/>
                <a:latin typeface="BlinkMacSystemFont"/>
              </a:rPr>
              <a:t>et</a:t>
            </a:r>
            <a:r>
              <a:rPr lang="hu-HU" sz="1400" b="0" i="0" dirty="0">
                <a:solidFill>
                  <a:srgbClr val="5B616B"/>
                </a:solidFill>
                <a:effectLst/>
                <a:latin typeface="BlinkMacSystemFont"/>
              </a:rPr>
              <a:t> </a:t>
            </a:r>
            <a:r>
              <a:rPr lang="hu-HU" sz="1400" b="0" i="0" dirty="0" err="1">
                <a:solidFill>
                  <a:srgbClr val="5B616B"/>
                </a:solidFill>
                <a:effectLst/>
                <a:latin typeface="BlinkMacSystemFont"/>
              </a:rPr>
              <a:t>al</a:t>
            </a:r>
            <a:r>
              <a:rPr lang="hu-HU" sz="1400" b="0" i="0" dirty="0">
                <a:solidFill>
                  <a:srgbClr val="5B616B"/>
                </a:solidFill>
                <a:effectLst/>
                <a:latin typeface="BlinkMacSystemFont"/>
              </a:rPr>
              <a:t>., 2014, </a:t>
            </a:r>
            <a:br>
              <a:rPr lang="hu-HU" sz="1400" b="0" i="0" dirty="0">
                <a:solidFill>
                  <a:srgbClr val="5B616B"/>
                </a:solidFill>
                <a:effectLst/>
                <a:latin typeface="BlinkMacSystemFont"/>
              </a:rPr>
            </a:br>
            <a:r>
              <a:rPr lang="hu-HU" sz="1400" b="0" i="0" dirty="0" err="1">
                <a:solidFill>
                  <a:srgbClr val="5B616B"/>
                </a:solidFill>
                <a:effectLst/>
                <a:latin typeface="BlinkMacSystemFont"/>
              </a:rPr>
              <a:t>doi</a:t>
            </a:r>
            <a:r>
              <a:rPr lang="hu-HU" sz="1400" b="0" i="0" dirty="0">
                <a:solidFill>
                  <a:srgbClr val="5B616B"/>
                </a:solidFill>
                <a:effectLst/>
                <a:latin typeface="BlinkMacSystemFont"/>
              </a:rPr>
              <a:t>:</a:t>
            </a:r>
            <a:r>
              <a:rPr lang="en-GB" sz="1400" b="0" i="0" dirty="0">
                <a:solidFill>
                  <a:srgbClr val="5B616B"/>
                </a:solidFill>
                <a:effectLst/>
                <a:latin typeface="BlinkMacSystemFont"/>
              </a:rPr>
              <a:t>10.1371/journal.pone.0099625.</a:t>
            </a:r>
            <a:r>
              <a:rPr lang="en-GB" sz="1400" b="0" i="0" dirty="0">
                <a:solidFill>
                  <a:srgbClr val="212121"/>
                </a:solidFill>
                <a:effectLst/>
                <a:latin typeface="BlinkMacSystemFont"/>
              </a:rPr>
              <a:t> </a:t>
            </a:r>
            <a:r>
              <a:rPr lang="en-GB" sz="1400" b="0" i="0" dirty="0" err="1">
                <a:solidFill>
                  <a:srgbClr val="5B616B"/>
                </a:solidFill>
                <a:effectLst/>
                <a:latin typeface="BlinkMacSystemFont"/>
              </a:rPr>
              <a:t>eCollection</a:t>
            </a:r>
            <a:r>
              <a:rPr lang="en-GB" sz="1400" b="0" i="0" dirty="0">
                <a:solidFill>
                  <a:srgbClr val="5B616B"/>
                </a:solidFill>
                <a:effectLst/>
                <a:latin typeface="BlinkMacSystemFont"/>
              </a:rPr>
              <a:t> 2014.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373837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09CE024-4ADF-527E-B5EA-42F5B7B82B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3DC8F9E3-9219-5422-D087-0796BCC8DFCE}"/>
              </a:ext>
            </a:extLst>
          </p:cNvPr>
          <p:cNvSpPr txBox="1">
            <a:spLocks/>
          </p:cNvSpPr>
          <p:nvPr/>
        </p:nvSpPr>
        <p:spPr>
          <a:xfrm>
            <a:off x="243484" y="287140"/>
            <a:ext cx="10841459" cy="9548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Global Differential Expression</a:t>
            </a:r>
            <a:r>
              <a:rPr kumimoji="0" lang="hu-HU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(DE)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Response to Dexamethasone</a:t>
            </a: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Results interpretation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B9C4CD11-9756-1738-555C-97416093F49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6B7025-22D7-19A3-11F1-BEC9F75DD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2515" y="689423"/>
            <a:ext cx="3978889" cy="39728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BFD4F4-1817-164C-2D92-22E5B845F8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998" y="3895760"/>
            <a:ext cx="3256650" cy="28677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3E1CAD-E4CB-EF5E-7180-4090073FB3D9}"/>
              </a:ext>
            </a:extLst>
          </p:cNvPr>
          <p:cNvSpPr txBox="1"/>
          <p:nvPr/>
        </p:nvSpPr>
        <p:spPr>
          <a:xfrm>
            <a:off x="352490" y="1414732"/>
            <a:ext cx="7504577" cy="2284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GB" b="1" dirty="0"/>
              <a:t>Glucocorticoid</a:t>
            </a:r>
            <a:r>
              <a:rPr lang="hu-HU" b="1" dirty="0"/>
              <a:t> (</a:t>
            </a:r>
            <a:r>
              <a:rPr lang="hu-HU" b="1" i="1" dirty="0" err="1"/>
              <a:t>steroid</a:t>
            </a:r>
            <a:r>
              <a:rPr lang="hu-HU" b="1" i="1" dirty="0"/>
              <a:t> </a:t>
            </a:r>
            <a:r>
              <a:rPr lang="hu-HU" b="1" i="1" dirty="0" err="1"/>
              <a:t>hormones</a:t>
            </a:r>
            <a:r>
              <a:rPr lang="hu-HU" b="1" dirty="0"/>
              <a:t>)</a:t>
            </a:r>
            <a:r>
              <a:rPr lang="en-GB" b="1" dirty="0"/>
              <a:t> Treatment Drives Strong Transcriptomic Changes</a:t>
            </a:r>
            <a:endParaRPr lang="hu-HU" b="1" dirty="0"/>
          </a:p>
          <a:p>
            <a:pPr>
              <a:lnSpc>
                <a:spcPct val="114000"/>
              </a:lnSpc>
            </a:pPr>
            <a:endParaRPr lang="hu-HU" b="1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/>
              <a:t>S</a:t>
            </a:r>
            <a:r>
              <a:rPr lang="en-GB" dirty="0" err="1"/>
              <a:t>eparation</a:t>
            </a:r>
            <a:r>
              <a:rPr lang="en-GB" dirty="0"/>
              <a:t> between </a:t>
            </a:r>
            <a:r>
              <a:rPr lang="en-GB" b="1" dirty="0"/>
              <a:t>Control</a:t>
            </a:r>
            <a:r>
              <a:rPr lang="en-GB" dirty="0"/>
              <a:t> and </a:t>
            </a:r>
            <a:r>
              <a:rPr lang="en-GB" b="1" dirty="0"/>
              <a:t>Dex</a:t>
            </a:r>
            <a:r>
              <a:rPr lang="hu-HU" b="1" dirty="0" err="1"/>
              <a:t>amethasone</a:t>
            </a:r>
            <a:r>
              <a:rPr lang="en-GB" b="1" dirty="0"/>
              <a:t>-treated</a:t>
            </a:r>
            <a:r>
              <a:rPr lang="en-GB" dirty="0"/>
              <a:t> samples (PCA result)</a:t>
            </a:r>
            <a:endParaRPr lang="hu-HU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 err="1"/>
              <a:t>Heatmap</a:t>
            </a:r>
            <a:r>
              <a:rPr lang="hu-HU" dirty="0"/>
              <a:t> of top 50 DE </a:t>
            </a:r>
            <a:r>
              <a:rPr lang="hu-HU" dirty="0" err="1"/>
              <a:t>genes</a:t>
            </a:r>
            <a:r>
              <a:rPr lang="hu-HU" dirty="0"/>
              <a:t> shows s</a:t>
            </a:r>
            <a:r>
              <a:rPr lang="en-GB" dirty="0" err="1"/>
              <a:t>trong</a:t>
            </a:r>
            <a:r>
              <a:rPr lang="en-GB" dirty="0"/>
              <a:t> clustering by treatment group</a:t>
            </a:r>
            <a:endParaRPr lang="hu-HU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 err="1"/>
              <a:t>Large</a:t>
            </a:r>
            <a:r>
              <a:rPr lang="hu-HU" dirty="0"/>
              <a:t> </a:t>
            </a:r>
            <a:r>
              <a:rPr lang="hu-HU" dirty="0" err="1"/>
              <a:t>number</a:t>
            </a:r>
            <a:r>
              <a:rPr lang="hu-HU" dirty="0"/>
              <a:t> of </a:t>
            </a:r>
            <a:r>
              <a:rPr lang="hu-HU" dirty="0" err="1"/>
              <a:t>significantly</a:t>
            </a:r>
            <a:r>
              <a:rPr lang="hu-HU" dirty="0"/>
              <a:t> </a:t>
            </a:r>
            <a:r>
              <a:rPr lang="hu-HU" dirty="0" err="1"/>
              <a:t>changed</a:t>
            </a:r>
            <a:r>
              <a:rPr lang="hu-HU" dirty="0"/>
              <a:t> (</a:t>
            </a:r>
            <a:r>
              <a:rPr lang="hu-HU" dirty="0" err="1"/>
              <a:t>adj.p</a:t>
            </a:r>
            <a:r>
              <a:rPr lang="hu-HU" dirty="0"/>
              <a:t> &lt; 0.05) </a:t>
            </a:r>
            <a:r>
              <a:rPr lang="hu-HU" dirty="0" err="1"/>
              <a:t>genes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4613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CE7BD-78C5-1398-32D8-0FCE1FE1A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170CF68B-F912-EB8E-13BB-762E9DA822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82F944ED-60C2-536C-E132-88B1C5EFADBF}"/>
              </a:ext>
            </a:extLst>
          </p:cNvPr>
          <p:cNvSpPr txBox="1">
            <a:spLocks/>
          </p:cNvSpPr>
          <p:nvPr/>
        </p:nvSpPr>
        <p:spPr>
          <a:xfrm>
            <a:off x="243484" y="287140"/>
            <a:ext cx="11361494" cy="9548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Global Differential Expression</a:t>
            </a:r>
            <a:r>
              <a:rPr kumimoji="0" lang="hu-HU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(DE)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Response to Dexamethasone</a:t>
            </a: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9792E9D4-BE62-B7E8-42D8-7F378ED47C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49B0BB-08BD-0224-3EF7-9ADA58715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689423"/>
            <a:ext cx="5965404" cy="59564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23D775-F28B-73DE-ED83-ED6F41AFFF94}"/>
              </a:ext>
            </a:extLst>
          </p:cNvPr>
          <p:cNvSpPr txBox="1"/>
          <p:nvPr/>
        </p:nvSpPr>
        <p:spPr>
          <a:xfrm>
            <a:off x="352490" y="1414732"/>
            <a:ext cx="750457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Known Glucocorticoid Targets Are Strongly Upregulated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FKBP5</a:t>
            </a:r>
            <a:r>
              <a:rPr lang="en-GB" dirty="0"/>
              <a:t> – classical glucocorticoid receptor target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ZBTB16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C7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GPX3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SAMHD1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FBN2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GLUL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CRISPLD2</a:t>
            </a:r>
            <a:r>
              <a:rPr lang="en-GB" dirty="0"/>
              <a:t> (from original paper)</a:t>
            </a:r>
          </a:p>
        </p:txBody>
      </p:sp>
    </p:spTree>
    <p:extLst>
      <p:ext uri="{BB962C8B-B14F-4D97-AF65-F5344CB8AC3E}">
        <p14:creationId xmlns:p14="http://schemas.microsoft.com/office/powerpoint/2010/main" val="3821139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63AEA-CD50-8AEF-570D-3F0EFCCE4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BD9AA05-03F7-4023-B79E-07C80E227B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8D6D1E6B-F9EE-0F42-B77A-3F18FC8FC6E7}"/>
              </a:ext>
            </a:extLst>
          </p:cNvPr>
          <p:cNvSpPr txBox="1">
            <a:spLocks/>
          </p:cNvSpPr>
          <p:nvPr/>
        </p:nvSpPr>
        <p:spPr>
          <a:xfrm>
            <a:off x="243484" y="287140"/>
            <a:ext cx="11361494" cy="9548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Global Differential Expression</a:t>
            </a:r>
            <a:r>
              <a:rPr kumimoji="0" lang="hu-HU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(DE)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Response to Dexamethasone</a:t>
            </a: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FC6F1047-7447-9624-351C-CF71213E5D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9273BB-60A2-5379-F069-779BC5AA6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889318"/>
            <a:ext cx="5768091" cy="50793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584F348-EB5D-8B6F-4AD9-CD65B139DA2A}"/>
              </a:ext>
            </a:extLst>
          </p:cNvPr>
          <p:cNvSpPr txBox="1"/>
          <p:nvPr/>
        </p:nvSpPr>
        <p:spPr>
          <a:xfrm>
            <a:off x="352490" y="1414732"/>
            <a:ext cx="750457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Known Glucocorticoid Targets Are Strongly Upregulated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FKBP5</a:t>
            </a:r>
            <a:r>
              <a:rPr lang="en-GB" dirty="0"/>
              <a:t> – classical glucocorticoid receptor target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ZBTB16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C7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GPX3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SAMHD1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FBN2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GLUL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CRISPLD2</a:t>
            </a:r>
            <a:r>
              <a:rPr lang="en-GB" dirty="0"/>
              <a:t> (from original paper)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643321-DB89-B253-E230-6B0D96ED6A89}"/>
              </a:ext>
            </a:extLst>
          </p:cNvPr>
          <p:cNvSpPr/>
          <p:nvPr/>
        </p:nvSpPr>
        <p:spPr>
          <a:xfrm>
            <a:off x="11056620" y="1414733"/>
            <a:ext cx="548358" cy="1549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EDB56-8BF3-38C6-4BCC-FAE753EAF7BE}"/>
              </a:ext>
            </a:extLst>
          </p:cNvPr>
          <p:cNvSpPr/>
          <p:nvPr/>
        </p:nvSpPr>
        <p:spPr>
          <a:xfrm>
            <a:off x="11056620" y="3639445"/>
            <a:ext cx="548358" cy="1549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1C4BE9-947D-DD12-C10F-0442C26A2B10}"/>
              </a:ext>
            </a:extLst>
          </p:cNvPr>
          <p:cNvSpPr/>
          <p:nvPr/>
        </p:nvSpPr>
        <p:spPr>
          <a:xfrm>
            <a:off x="11056620" y="2067268"/>
            <a:ext cx="548358" cy="1549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3CBC9A-F253-21D5-D2CB-E24C068F862E}"/>
              </a:ext>
            </a:extLst>
          </p:cNvPr>
          <p:cNvSpPr/>
          <p:nvPr/>
        </p:nvSpPr>
        <p:spPr>
          <a:xfrm>
            <a:off x="11056620" y="1702900"/>
            <a:ext cx="548358" cy="154988"/>
          </a:xfrm>
          <a:prstGeom prst="rect">
            <a:avLst/>
          </a:prstGeom>
          <a:noFill/>
          <a:ln w="28575">
            <a:solidFill>
              <a:srgbClr val="00AA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359CE1-9201-8482-96B8-129F3A73C089}"/>
              </a:ext>
            </a:extLst>
          </p:cNvPr>
          <p:cNvSpPr/>
          <p:nvPr/>
        </p:nvSpPr>
        <p:spPr>
          <a:xfrm>
            <a:off x="11056620" y="2982930"/>
            <a:ext cx="548358" cy="1549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6CB6B5-6E4F-B982-C6D7-5DDC26CC9CCE}"/>
              </a:ext>
            </a:extLst>
          </p:cNvPr>
          <p:cNvSpPr txBox="1"/>
          <p:nvPr/>
        </p:nvSpPr>
        <p:spPr>
          <a:xfrm>
            <a:off x="7934325" y="6488668"/>
            <a:ext cx="1228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 err="1"/>
              <a:t>Untreated</a:t>
            </a:r>
            <a:endParaRPr lang="en-GB" b="1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EC28DBD6-EF74-B742-498F-30A381B6E000}"/>
              </a:ext>
            </a:extLst>
          </p:cNvPr>
          <p:cNvSpPr/>
          <p:nvPr/>
        </p:nvSpPr>
        <p:spPr>
          <a:xfrm rot="16200000">
            <a:off x="8310915" y="5217433"/>
            <a:ext cx="519989" cy="2022483"/>
          </a:xfrm>
          <a:prstGeom prst="leftBracket">
            <a:avLst/>
          </a:prstGeom>
          <a:ln w="127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4EBC0B1A-332F-DED3-0F9C-B10320701B83}"/>
              </a:ext>
            </a:extLst>
          </p:cNvPr>
          <p:cNvSpPr/>
          <p:nvPr/>
        </p:nvSpPr>
        <p:spPr>
          <a:xfrm rot="16200000">
            <a:off x="9393083" y="5102059"/>
            <a:ext cx="289247" cy="2022483"/>
          </a:xfrm>
          <a:prstGeom prst="leftBracket">
            <a:avLst/>
          </a:prstGeom>
          <a:ln w="127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ABC096-5953-B6ED-2B79-FCCA4602E492}"/>
              </a:ext>
            </a:extLst>
          </p:cNvPr>
          <p:cNvSpPr txBox="1"/>
          <p:nvPr/>
        </p:nvSpPr>
        <p:spPr>
          <a:xfrm>
            <a:off x="8967788" y="6201527"/>
            <a:ext cx="1228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 err="1">
                <a:solidFill>
                  <a:srgbClr val="FF0000"/>
                </a:solidFill>
              </a:rPr>
              <a:t>Dex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16640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E6585-D6D9-3471-3C77-D0A49DC44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6087D324-F79D-B4D2-0E05-3156B89977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E256ABDA-34B5-28C0-4A9A-F7045B6DA73B}"/>
              </a:ext>
            </a:extLst>
          </p:cNvPr>
          <p:cNvSpPr txBox="1">
            <a:spLocks/>
          </p:cNvSpPr>
          <p:nvPr/>
        </p:nvSpPr>
        <p:spPr>
          <a:xfrm>
            <a:off x="243484" y="287140"/>
            <a:ext cx="11361494" cy="9548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Global Differential Expression</a:t>
            </a:r>
            <a:r>
              <a:rPr kumimoji="0" lang="hu-HU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(DE)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Response to Dexamethasone</a:t>
            </a: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8067D8-4CC7-90FF-533D-5DFDEBC5C018}"/>
              </a:ext>
            </a:extLst>
          </p:cNvPr>
          <p:cNvSpPr txBox="1"/>
          <p:nvPr/>
        </p:nvSpPr>
        <p:spPr>
          <a:xfrm>
            <a:off x="243484" y="959049"/>
            <a:ext cx="7504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CRISPLD2 as a Key Glucocorticoid-Responsive Gene</a:t>
            </a:r>
            <a:endParaRPr lang="hu-HU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505CDDE-6EA6-8AD0-E33F-3BDBD219D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35" y="2096656"/>
            <a:ext cx="3781953" cy="3658111"/>
          </a:xfrm>
          <a:prstGeom prst="rect">
            <a:avLst/>
          </a:prstGeom>
          <a:ln>
            <a:solidFill>
              <a:srgbClr val="12A0CB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FD512D9-1527-E583-39CA-9F80110B9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959" y="2096656"/>
            <a:ext cx="4379869" cy="431476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9712531-A1AB-28A7-8C8A-E51E3B0D6E9A}"/>
              </a:ext>
            </a:extLst>
          </p:cNvPr>
          <p:cNvSpPr txBox="1"/>
          <p:nvPr/>
        </p:nvSpPr>
        <p:spPr>
          <a:xfrm>
            <a:off x="7172315" y="6416010"/>
            <a:ext cx="3093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i="1" dirty="0" err="1"/>
              <a:t>Himes</a:t>
            </a:r>
            <a:r>
              <a:rPr lang="hu-HU" i="1" dirty="0"/>
              <a:t> </a:t>
            </a:r>
            <a:r>
              <a:rPr lang="hu-HU" i="1" dirty="0" err="1"/>
              <a:t>et</a:t>
            </a:r>
            <a:r>
              <a:rPr lang="hu-HU" i="1" dirty="0"/>
              <a:t> </a:t>
            </a:r>
            <a:r>
              <a:rPr lang="hu-HU" i="1" dirty="0" err="1"/>
              <a:t>al</a:t>
            </a:r>
            <a:r>
              <a:rPr lang="hu-HU" i="1" dirty="0"/>
              <a:t>., 2014</a:t>
            </a:r>
            <a:endParaRPr lang="en-GB" i="1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5B61871-60E0-70D4-B714-84848C215810}"/>
              </a:ext>
            </a:extLst>
          </p:cNvPr>
          <p:cNvGrpSpPr/>
          <p:nvPr/>
        </p:nvGrpSpPr>
        <p:grpSpPr>
          <a:xfrm>
            <a:off x="5643662" y="854480"/>
            <a:ext cx="5961316" cy="1141712"/>
            <a:chOff x="1737703" y="2307361"/>
            <a:chExt cx="8716591" cy="1669403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27A08CC-ECEB-4547-F070-6D3D0C55C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66283" y="2881236"/>
              <a:ext cx="8659433" cy="1095528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86DE4666-5B50-0A05-9F98-B8067D79A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7703" y="2307361"/>
              <a:ext cx="8716591" cy="571580"/>
            </a:xfrm>
            <a:prstGeom prst="rect">
              <a:avLst/>
            </a:prstGeom>
          </p:spPr>
        </p:pic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007B819-0AEE-BB73-9DD5-29CEA61D0658}"/>
              </a:ext>
            </a:extLst>
          </p:cNvPr>
          <p:cNvCxnSpPr/>
          <p:nvPr/>
        </p:nvCxnSpPr>
        <p:spPr>
          <a:xfrm flipV="1">
            <a:off x="4651022" y="3203222"/>
            <a:ext cx="0" cy="144497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229209E-43F9-2FF1-4ACE-2641E2718704}"/>
              </a:ext>
            </a:extLst>
          </p:cNvPr>
          <p:cNvSpPr txBox="1"/>
          <p:nvPr/>
        </p:nvSpPr>
        <p:spPr>
          <a:xfrm>
            <a:off x="4651022" y="3325545"/>
            <a:ext cx="1761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solidFill>
                  <a:schemeClr val="accent1"/>
                </a:solidFill>
              </a:rPr>
              <a:t>Strong </a:t>
            </a:r>
            <a:r>
              <a:rPr lang="hu-HU" b="1" dirty="0" err="1">
                <a:solidFill>
                  <a:schemeClr val="accent1"/>
                </a:solidFill>
              </a:rPr>
              <a:t>upregulation</a:t>
            </a:r>
            <a:r>
              <a:rPr lang="hu-HU" b="1" dirty="0">
                <a:solidFill>
                  <a:schemeClr val="accent1"/>
                </a:solidFill>
              </a:rPr>
              <a:t> </a:t>
            </a:r>
            <a:r>
              <a:rPr lang="hu-HU" b="1" dirty="0" err="1">
                <a:solidFill>
                  <a:schemeClr val="accent1"/>
                </a:solidFill>
              </a:rPr>
              <a:t>on</a:t>
            </a:r>
            <a:r>
              <a:rPr lang="hu-HU" b="1" dirty="0">
                <a:solidFill>
                  <a:schemeClr val="accent1"/>
                </a:solidFill>
              </a:rPr>
              <a:t> </a:t>
            </a:r>
            <a:r>
              <a:rPr lang="hu-HU" b="1" dirty="0" err="1">
                <a:solidFill>
                  <a:schemeClr val="accent1"/>
                </a:solidFill>
              </a:rPr>
              <a:t>Dexamethasone</a:t>
            </a:r>
            <a:r>
              <a:rPr lang="hu-HU" b="1" dirty="0">
                <a:solidFill>
                  <a:schemeClr val="accent1"/>
                </a:solidFill>
              </a:rPr>
              <a:t> </a:t>
            </a:r>
            <a:r>
              <a:rPr lang="hu-HU" b="1" dirty="0" err="1">
                <a:solidFill>
                  <a:schemeClr val="accent1"/>
                </a:solidFill>
              </a:rPr>
              <a:t>treatment</a:t>
            </a:r>
            <a:endParaRPr lang="en-GB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467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B0D0D-B5B2-FB35-EC40-3FAC9ABE7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0E9FAE5E-5899-641E-BD25-73E417016F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5C54AC6F-DC62-0DF5-45B1-DB8B8FEB25CA}"/>
              </a:ext>
            </a:extLst>
          </p:cNvPr>
          <p:cNvSpPr txBox="1">
            <a:spLocks/>
          </p:cNvSpPr>
          <p:nvPr/>
        </p:nvSpPr>
        <p:spPr>
          <a:xfrm>
            <a:off x="450519" y="399459"/>
            <a:ext cx="4157108" cy="64328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Question and Answers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EE3D2BFD-6028-0672-0008-7C3D05E2C9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3" name="Picture 4" descr="Overview of the experimental steps in a RNAseq protocol. The cDNA... |  Download Scientific Diagram">
            <a:extLst>
              <a:ext uri="{FF2B5EF4-FFF2-40B4-BE49-F238E27FC236}">
                <a16:creationId xmlns:a16="http://schemas.microsoft.com/office/drawing/2014/main" id="{2C8D00C0-8EFC-CFED-599A-C3F9E93AA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934" y="2032590"/>
            <a:ext cx="6188912" cy="2970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16">
            <a:extLst>
              <a:ext uri="{FF2B5EF4-FFF2-40B4-BE49-F238E27FC236}">
                <a16:creationId xmlns:a16="http://schemas.microsoft.com/office/drawing/2014/main" id="{A307C9F4-71AB-87D8-8E52-0355BE0A838A}"/>
              </a:ext>
            </a:extLst>
          </p:cNvPr>
          <p:cNvSpPr/>
          <p:nvPr/>
        </p:nvSpPr>
        <p:spPr>
          <a:xfrm>
            <a:off x="487933" y="3487257"/>
            <a:ext cx="3678625" cy="1516011"/>
          </a:xfrm>
          <a:prstGeom prst="rect">
            <a:avLst/>
          </a:prstGeom>
          <a:noFill/>
          <a:ln w="38100">
            <a:solidFill>
              <a:srgbClr val="12A0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rrow: Bent 5">
            <a:extLst>
              <a:ext uri="{FF2B5EF4-FFF2-40B4-BE49-F238E27FC236}">
                <a16:creationId xmlns:a16="http://schemas.microsoft.com/office/drawing/2014/main" id="{4A2FA27C-9AA9-29E7-207E-2BAE672D7A6A}"/>
              </a:ext>
            </a:extLst>
          </p:cNvPr>
          <p:cNvSpPr/>
          <p:nvPr/>
        </p:nvSpPr>
        <p:spPr>
          <a:xfrm flipV="1">
            <a:off x="1000663" y="4477108"/>
            <a:ext cx="6909759" cy="1500995"/>
          </a:xfrm>
          <a:prstGeom prst="bentArrow">
            <a:avLst>
              <a:gd name="adj1" fmla="val 6476"/>
              <a:gd name="adj2" fmla="val 10803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18FD6773-176E-EF17-FC19-6FFF29E5D851}"/>
              </a:ext>
            </a:extLst>
          </p:cNvPr>
          <p:cNvSpPr txBox="1"/>
          <p:nvPr/>
        </p:nvSpPr>
        <p:spPr>
          <a:xfrm>
            <a:off x="1226941" y="5002970"/>
            <a:ext cx="2857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Bioinformatics data analysis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B18E4D6C-1910-BA14-E589-273DFE6B3F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5442" y="2658506"/>
            <a:ext cx="3898335" cy="3637203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8FB05930-BEC4-18E6-D9B9-5AA1183F21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638" y="18803"/>
            <a:ext cx="3384362" cy="6858000"/>
          </a:xfrm>
          <a:prstGeom prst="rect">
            <a:avLst/>
          </a:prstGeom>
        </p:spPr>
      </p:pic>
      <p:sp>
        <p:nvSpPr>
          <p:cNvPr id="19" name="AutoShape 2" descr="Pipeline">
            <a:extLst>
              <a:ext uri="{FF2B5EF4-FFF2-40B4-BE49-F238E27FC236}">
                <a16:creationId xmlns:a16="http://schemas.microsoft.com/office/drawing/2014/main" id="{3A667708-984A-932C-ACA4-B9285891B4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36535555-C817-471C-7854-10639254C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932" y="1042739"/>
            <a:ext cx="5907153" cy="4960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88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1" grpId="0" animBg="1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4C5C-D340-5529-2845-4D4234B7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2" name="Picture 14" descr="What Is CI/CD and How Does It Work? | Black Duck">
            <a:extLst>
              <a:ext uri="{FF2B5EF4-FFF2-40B4-BE49-F238E27FC236}">
                <a16:creationId xmlns:a16="http://schemas.microsoft.com/office/drawing/2014/main" id="{78524B4E-0A1F-066C-1C23-D872F76438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7835" y="4692664"/>
            <a:ext cx="4038600" cy="201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E2B13B5B-DA72-FEF7-86A6-7675BD87F6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271ED0B3-BB9D-31F2-8E09-2D0CC3611880}"/>
              </a:ext>
            </a:extLst>
          </p:cNvPr>
          <p:cNvSpPr txBox="1">
            <a:spLocks/>
          </p:cNvSpPr>
          <p:nvPr/>
        </p:nvSpPr>
        <p:spPr>
          <a:xfrm>
            <a:off x="450518" y="399459"/>
            <a:ext cx="9987631" cy="64328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What comes next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1E155BC5-D25F-7819-4E0B-38FF17686C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459406B-141F-6F3E-DD17-C714D780F09E}"/>
              </a:ext>
            </a:extLst>
          </p:cNvPr>
          <p:cNvSpPr txBox="1"/>
          <p:nvPr/>
        </p:nvSpPr>
        <p:spPr>
          <a:xfrm>
            <a:off x="450518" y="1605671"/>
            <a:ext cx="8664680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>
                <a:hlinkClick r:id="rId3"/>
              </a:rPr>
              <a:t>Register</a:t>
            </a:r>
            <a:r>
              <a:rPr lang="pt-PT" sz="2000" dirty="0"/>
              <a:t> to </a:t>
            </a:r>
            <a:r>
              <a:rPr lang="pt-PT" sz="2000" dirty="0" err="1"/>
              <a:t>keep</a:t>
            </a:r>
            <a:r>
              <a:rPr lang="pt-PT" sz="2000" dirty="0"/>
              <a:t> </a:t>
            </a:r>
            <a:r>
              <a:rPr lang="pt-PT" sz="2000" dirty="0" err="1"/>
              <a:t>using</a:t>
            </a:r>
            <a:r>
              <a:rPr lang="pt-PT" sz="2000" dirty="0"/>
              <a:t> </a:t>
            </a:r>
            <a:r>
              <a:rPr lang="pt-PT" sz="2000" dirty="0" err="1"/>
              <a:t>Puli</a:t>
            </a:r>
            <a:r>
              <a:rPr lang="pt-PT" sz="2000" dirty="0"/>
              <a:t>.</a:t>
            </a:r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Join</a:t>
            </a:r>
            <a:r>
              <a:rPr lang="pt-PT" sz="2000" dirty="0"/>
              <a:t> </a:t>
            </a:r>
            <a:r>
              <a:rPr lang="pt-PT" sz="2000" dirty="0" err="1"/>
              <a:t>HCEMM’s</a:t>
            </a:r>
            <a:r>
              <a:rPr lang="pt-PT" sz="2000" dirty="0"/>
              <a:t> </a:t>
            </a:r>
            <a:r>
              <a:rPr lang="pt-PT" sz="2000" dirty="0" err="1"/>
              <a:t>bioinformatics</a:t>
            </a:r>
            <a:r>
              <a:rPr lang="pt-PT" sz="2000" dirty="0"/>
              <a:t> network </a:t>
            </a:r>
            <a:r>
              <a:rPr lang="pt-PT" sz="2000" dirty="0" err="1"/>
              <a:t>at</a:t>
            </a:r>
            <a:r>
              <a:rPr lang="pt-PT" sz="2000" dirty="0"/>
              <a:t> GitHub: </a:t>
            </a:r>
            <a:r>
              <a:rPr lang="pt-PT" sz="2000" dirty="0">
                <a:hlinkClick r:id="rId4"/>
              </a:rPr>
              <a:t>https://github.com/HCEMM/</a:t>
            </a: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/>
              <a:t>Future workshops</a:t>
            </a:r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Galaxy</a:t>
            </a:r>
            <a:r>
              <a:rPr lang="pt-PT" sz="2000" dirty="0"/>
              <a:t>: a </a:t>
            </a:r>
            <a:r>
              <a:rPr lang="pt-PT" sz="2000" dirty="0" err="1"/>
              <a:t>graphical</a:t>
            </a:r>
            <a:r>
              <a:rPr lang="pt-PT" sz="2000" dirty="0"/>
              <a:t> interface for </a:t>
            </a:r>
            <a:r>
              <a:rPr lang="pt-PT" sz="2000" dirty="0" err="1"/>
              <a:t>bioinformatics</a:t>
            </a:r>
            <a:endParaRPr lang="pt-PT" sz="2000" dirty="0"/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Reproducible</a:t>
            </a:r>
            <a:r>
              <a:rPr lang="pt-PT" sz="2000" dirty="0"/>
              <a:t> </a:t>
            </a:r>
            <a:r>
              <a:rPr lang="pt-PT" sz="2000" dirty="0" err="1"/>
              <a:t>and</a:t>
            </a:r>
            <a:r>
              <a:rPr lang="pt-PT" sz="2000" dirty="0"/>
              <a:t> </a:t>
            </a:r>
            <a:r>
              <a:rPr lang="pt-PT" sz="2000" dirty="0" err="1"/>
              <a:t>structured</a:t>
            </a:r>
            <a:r>
              <a:rPr lang="pt-PT" sz="2000" dirty="0"/>
              <a:t> </a:t>
            </a:r>
            <a:r>
              <a:rPr lang="pt-PT" sz="2000" dirty="0" err="1"/>
              <a:t>analysis</a:t>
            </a:r>
            <a:r>
              <a:rPr lang="pt-PT" sz="2000" dirty="0"/>
              <a:t> </a:t>
            </a:r>
            <a:r>
              <a:rPr lang="pt-PT" sz="2000" dirty="0" err="1"/>
              <a:t>with</a:t>
            </a:r>
            <a:r>
              <a:rPr lang="pt-PT" sz="2000" dirty="0"/>
              <a:t> </a:t>
            </a:r>
            <a:r>
              <a:rPr lang="pt-PT" sz="2000" dirty="0" err="1"/>
              <a:t>workflow</a:t>
            </a:r>
            <a:r>
              <a:rPr lang="pt-PT" sz="2000" dirty="0"/>
              <a:t> managers</a:t>
            </a:r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Continuous</a:t>
            </a:r>
            <a:r>
              <a:rPr lang="pt-PT" sz="2000" dirty="0"/>
              <a:t> </a:t>
            </a:r>
            <a:r>
              <a:rPr lang="pt-PT" sz="2000" dirty="0" err="1"/>
              <a:t>integration</a:t>
            </a:r>
            <a:r>
              <a:rPr lang="pt-PT" sz="2000" dirty="0"/>
              <a:t> </a:t>
            </a:r>
            <a:r>
              <a:rPr lang="pt-PT" sz="2000" dirty="0" err="1"/>
              <a:t>and</a:t>
            </a:r>
            <a:r>
              <a:rPr lang="pt-PT" sz="2000" dirty="0"/>
              <a:t> </a:t>
            </a:r>
            <a:r>
              <a:rPr lang="pt-PT" sz="2000" dirty="0" err="1"/>
              <a:t>deployment</a:t>
            </a:r>
            <a:r>
              <a:rPr lang="pt-PT" sz="2000" dirty="0"/>
              <a:t> in </a:t>
            </a:r>
            <a:r>
              <a:rPr lang="pt-PT" sz="2000" dirty="0" err="1"/>
              <a:t>biotools</a:t>
            </a:r>
            <a:r>
              <a:rPr lang="pt-PT" sz="2000" dirty="0"/>
              <a:t> </a:t>
            </a:r>
            <a:r>
              <a:rPr lang="pt-PT" sz="2000" dirty="0" err="1"/>
              <a:t>deveopment</a:t>
            </a:r>
            <a:endParaRPr lang="pt-PT" sz="2000" dirty="0"/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1B6A295-F583-FFDC-B593-27D854082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5282" y="828236"/>
            <a:ext cx="5181600" cy="161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ithub Logo - Free social media icons">
            <a:extLst>
              <a:ext uri="{FF2B5EF4-FFF2-40B4-BE49-F238E27FC236}">
                <a16:creationId xmlns:a16="http://schemas.microsoft.com/office/drawing/2014/main" id="{66E28CC5-5F82-0445-814F-F9BF669DC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0061" y="2028275"/>
            <a:ext cx="1400725" cy="1400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About Galaxy | Genome Sciences Institute | The Huck Institutes (en-US)">
            <a:extLst>
              <a:ext uri="{FF2B5EF4-FFF2-40B4-BE49-F238E27FC236}">
                <a16:creationId xmlns:a16="http://schemas.microsoft.com/office/drawing/2014/main" id="{343C1BB5-10C6-582F-1D77-F3916AC6A8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7908" y="282947"/>
            <a:ext cx="4157948" cy="974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Snakemake · GitHub">
            <a:extLst>
              <a:ext uri="{FF2B5EF4-FFF2-40B4-BE49-F238E27FC236}">
                <a16:creationId xmlns:a16="http://schemas.microsoft.com/office/drawing/2014/main" id="{64313168-1887-61BC-F129-10CBF2C7E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7045" y="3276600"/>
            <a:ext cx="1694932" cy="1694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EA583F8A-56AA-8BBF-486F-22B0AA9D37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8" t="28381" r="5180" b="23550"/>
          <a:stretch/>
        </p:blipFill>
        <p:spPr bwMode="auto">
          <a:xfrm>
            <a:off x="2498038" y="5082837"/>
            <a:ext cx="3597962" cy="940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9403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2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2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Número do Diapositivo 3">
            <a:extLst>
              <a:ext uri="{FF2B5EF4-FFF2-40B4-BE49-F238E27FC236}">
                <a16:creationId xmlns:a16="http://schemas.microsoft.com/office/drawing/2014/main" id="{AAF88E92-C673-4C8D-A504-5C01A074BE15}"/>
              </a:ext>
            </a:extLst>
          </p:cNvPr>
          <p:cNvSpPr txBox="1">
            <a:spLocks/>
          </p:cNvSpPr>
          <p:nvPr/>
        </p:nvSpPr>
        <p:spPr>
          <a:xfrm>
            <a:off x="209179" y="6394340"/>
            <a:ext cx="429126" cy="365125"/>
          </a:xfrm>
          <a:prstGeom prst="rect">
            <a:avLst/>
          </a:prstGeom>
        </p:spPr>
        <p:txBody>
          <a:bodyPr/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0B01981-BAC9-448B-9192-9C05FAA59408}" type="slidenum">
              <a:rPr lang="en-US" sz="1200" b="1" noProof="0" smtClean="0">
                <a:solidFill>
                  <a:schemeClr val="bg1"/>
                </a:solidFill>
                <a:latin typeface="+mj-lt"/>
              </a:rPr>
              <a:pPr/>
              <a:t>9</a:t>
            </a:fld>
            <a:endParaRPr lang="en-US" sz="1200" b="1" noProof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A446DA4-BC32-08EA-5ADC-C65D845DA317}"/>
              </a:ext>
            </a:extLst>
          </p:cNvPr>
          <p:cNvSpPr txBox="1">
            <a:spLocks/>
          </p:cNvSpPr>
          <p:nvPr/>
        </p:nvSpPr>
        <p:spPr>
          <a:xfrm>
            <a:off x="3109118" y="3585419"/>
            <a:ext cx="5973763" cy="123203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Thank you for your attention!</a:t>
            </a:r>
          </a:p>
          <a:p>
            <a:endParaRPr lang="en-US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Myriad Pro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6" id="{777394DB-89E5-5947-A806-3D77D4ACE7EC}" vid="{2E4A4D21-71AC-AA4E-9AF2-ACDB3D6CD4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Custom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">
      <a:majorFont>
        <a:latin typeface="Myriad Pro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2167</TotalTime>
  <Words>560</Words>
  <Application>Microsoft Office PowerPoint</Application>
  <PresentationFormat>Widescreen</PresentationFormat>
  <Paragraphs>83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BlinkMacSystemFont</vt:lpstr>
      <vt:lpstr>Calibri</vt:lpstr>
      <vt:lpstr>Myriad Pro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Szepesi-Nagy István</cp:lastModifiedBy>
  <cp:revision>273</cp:revision>
  <dcterms:created xsi:type="dcterms:W3CDTF">2021-03-07T20:33:45Z</dcterms:created>
  <dcterms:modified xsi:type="dcterms:W3CDTF">2026-02-27T10:42:47Z</dcterms:modified>
</cp:coreProperties>
</file>